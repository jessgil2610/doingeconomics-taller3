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2"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7976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395E"/>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065A82"/>
          </a:solidFill>
          <a:ln w="12700">
            <a:solidFill>
              <a:srgbClr val="065A82"/>
            </a:solidFill>
            <a:prstDash val="solid"/>
          </a:ln>
        </p:spPr>
        <p:txBody>
          <a:bodyPr/>
          <a:lstStyle/>
          <a:p>
            <a:endParaRPr lang="es-CO"/>
          </a:p>
        </p:txBody>
      </p:sp>
      <p:sp>
        <p:nvSpPr>
          <p:cNvPr id="3" name="Shape 1"/>
          <p:cNvSpPr/>
          <p:nvPr/>
        </p:nvSpPr>
        <p:spPr>
          <a:xfrm>
            <a:off x="5669280" y="0"/>
            <a:ext cx="109728" cy="5143500"/>
          </a:xfrm>
          <a:prstGeom prst="rect">
            <a:avLst/>
          </a:prstGeom>
          <a:solidFill>
            <a:srgbClr val="00C2CB"/>
          </a:solidFill>
          <a:ln w="12700">
            <a:solidFill>
              <a:srgbClr val="00C2CB"/>
            </a:solidFill>
            <a:prstDash val="solid"/>
          </a:ln>
        </p:spPr>
        <p:txBody>
          <a:bodyPr/>
          <a:lstStyle/>
          <a:p>
            <a:endParaRPr lang="es-CO"/>
          </a:p>
        </p:txBody>
      </p:sp>
      <p:sp>
        <p:nvSpPr>
          <p:cNvPr id="4" name="Text 2"/>
          <p:cNvSpPr/>
          <p:nvPr/>
        </p:nvSpPr>
        <p:spPr>
          <a:xfrm>
            <a:off x="548640" y="502920"/>
            <a:ext cx="5029200" cy="365760"/>
          </a:xfrm>
          <a:prstGeom prst="rect">
            <a:avLst/>
          </a:prstGeom>
          <a:noFill/>
          <a:ln/>
        </p:spPr>
        <p:txBody>
          <a:bodyPr wrap="square" lIns="0" tIns="0" rIns="0" bIns="0" rtlCol="0" anchor="ctr"/>
          <a:lstStyle/>
          <a:p>
            <a:pPr marL="0" indent="0">
              <a:buNone/>
            </a:pPr>
            <a:r>
              <a:rPr lang="en-US" sz="1200" b="1" kern="0" spc="400" dirty="0">
                <a:solidFill>
                  <a:srgbClr val="00C2CB"/>
                </a:solidFill>
                <a:latin typeface="Calibri" pitchFamily="34" charset="0"/>
                <a:ea typeface="Calibri" pitchFamily="34" charset="-122"/>
                <a:cs typeface="Calibri" pitchFamily="34" charset="-120"/>
              </a:rPr>
              <a:t>PARTE 1.2.1-2</a:t>
            </a:r>
            <a:endParaRPr lang="en-US" sz="1200" dirty="0"/>
          </a:p>
        </p:txBody>
      </p:sp>
      <p:sp>
        <p:nvSpPr>
          <p:cNvPr id="5" name="Text 3"/>
          <p:cNvSpPr/>
          <p:nvPr/>
        </p:nvSpPr>
        <p:spPr>
          <a:xfrm>
            <a:off x="548640" y="914400"/>
            <a:ext cx="5029200" cy="228600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Variación de la</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Temperatura</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en el Tiempo</a:t>
            </a:r>
            <a:endParaRPr lang="en-US" sz="3800" dirty="0"/>
          </a:p>
        </p:txBody>
      </p:sp>
      <p:sp>
        <p:nvSpPr>
          <p:cNvPr id="6" name="Text 4"/>
          <p:cNvSpPr/>
          <p:nvPr/>
        </p:nvSpPr>
        <p:spPr>
          <a:xfrm>
            <a:off x="548640" y="3337560"/>
            <a:ext cx="5029200" cy="777240"/>
          </a:xfrm>
          <a:prstGeom prst="rect">
            <a:avLst/>
          </a:prstGeom>
          <a:noFill/>
          <a:ln/>
        </p:spPr>
        <p:txBody>
          <a:bodyPr wrap="square" lIns="0" tIns="0" rIns="0" bIns="0" rtlCol="0" anchor="ctr"/>
          <a:lstStyle/>
          <a:p>
            <a:pPr marL="0" indent="0">
              <a:buNone/>
            </a:pPr>
            <a:r>
              <a:rPr lang="en-US" sz="1400" dirty="0">
                <a:solidFill>
                  <a:srgbClr val="B0C4D8"/>
                </a:solidFill>
                <a:latin typeface="Calibri" pitchFamily="34" charset="0"/>
                <a:ea typeface="Calibri" pitchFamily="34" charset="-122"/>
                <a:cs typeface="Calibri" pitchFamily="34" charset="-120"/>
              </a:rPr>
              <a:t>Análisis de distribución de anomalías</a:t>
            </a:r>
            <a:endParaRPr lang="en-US" sz="1400" dirty="0"/>
          </a:p>
          <a:p>
            <a:pPr marL="0" indent="0">
              <a:buNone/>
            </a:pPr>
            <a:r>
              <a:rPr lang="en-US" sz="1400" dirty="0">
                <a:solidFill>
                  <a:srgbClr val="B0C4D8"/>
                </a:solidFill>
                <a:latin typeface="Calibri" pitchFamily="34" charset="0"/>
                <a:ea typeface="Calibri" pitchFamily="34" charset="-122"/>
                <a:cs typeface="Calibri" pitchFamily="34" charset="-120"/>
              </a:rPr>
              <a:t>1951–1980 vs. 1981–2010</a:t>
            </a:r>
            <a:endParaRPr lang="en-US" sz="1400" dirty="0"/>
          </a:p>
        </p:txBody>
      </p:sp>
      <p:sp>
        <p:nvSpPr>
          <p:cNvPr id="7" name="Text 5"/>
          <p:cNvSpPr/>
          <p:nvPr/>
        </p:nvSpPr>
        <p:spPr>
          <a:xfrm>
            <a:off x="548640" y="4297680"/>
            <a:ext cx="5029200" cy="640080"/>
          </a:xfrm>
          <a:prstGeom prst="rect">
            <a:avLst/>
          </a:prstGeom>
          <a:noFill/>
          <a:ln/>
        </p:spPr>
        <p:txBody>
          <a:bodyPr wrap="square" lIns="0" tIns="0" rIns="0" bIns="0" rtlCol="0" anchor="ctr"/>
          <a:lstStyle/>
          <a:p>
            <a:pPr marL="0" indent="0">
              <a:buNone/>
            </a:pPr>
            <a:r>
              <a:rPr lang="en-US" sz="1100" dirty="0">
                <a:solidFill>
                  <a:srgbClr val="00C2CB"/>
                </a:solidFill>
                <a:latin typeface="Calibri" pitchFamily="34" charset="0"/>
                <a:ea typeface="Calibri" pitchFamily="34" charset="-122"/>
                <a:cs typeface="Calibri" pitchFamily="34" charset="-120"/>
              </a:rPr>
              <a:t>Jessica Gil  ·  Esteban Mora</a:t>
            </a:r>
            <a:endParaRPr lang="en-US" sz="1100" dirty="0"/>
          </a:p>
          <a:p>
            <a:pPr marL="0" indent="0">
              <a:buNone/>
            </a:pPr>
            <a:r>
              <a:rPr lang="en-US" sz="1100" dirty="0">
                <a:solidFill>
                  <a:srgbClr val="00C2CB"/>
                </a:solidFill>
                <a:latin typeface="Calibri" pitchFamily="34" charset="0"/>
                <a:ea typeface="Calibri" pitchFamily="34" charset="-122"/>
                <a:cs typeface="Calibri" pitchFamily="34" charset="-120"/>
              </a:rPr>
              <a:t>Haciendo Economía</a:t>
            </a:r>
            <a:endParaRPr lang="en-US" sz="1100" dirty="0"/>
          </a:p>
        </p:txBody>
      </p:sp>
      <p:sp>
        <p:nvSpPr>
          <p:cNvPr id="8" name="Shape 6"/>
          <p:cNvSpPr/>
          <p:nvPr/>
        </p:nvSpPr>
        <p:spPr>
          <a:xfrm>
            <a:off x="6949440" y="548640"/>
            <a:ext cx="320040" cy="2560320"/>
          </a:xfrm>
          <a:prstGeom prst="rect">
            <a:avLst/>
          </a:prstGeom>
          <a:solidFill>
            <a:srgbClr val="F0F7FF">
              <a:alpha val="80000"/>
            </a:srgbClr>
          </a:solidFill>
          <a:ln w="12700">
            <a:solidFill>
              <a:srgbClr val="B0C4D8"/>
            </a:solidFill>
            <a:prstDash val="solid"/>
          </a:ln>
        </p:spPr>
        <p:txBody>
          <a:bodyPr/>
          <a:lstStyle/>
          <a:p>
            <a:endParaRPr lang="es-CO"/>
          </a:p>
        </p:txBody>
      </p:sp>
      <p:sp>
        <p:nvSpPr>
          <p:cNvPr id="9" name="Shape 7"/>
          <p:cNvSpPr/>
          <p:nvPr/>
        </p:nvSpPr>
        <p:spPr>
          <a:xfrm>
            <a:off x="6839712" y="2926080"/>
            <a:ext cx="548640" cy="548640"/>
          </a:xfrm>
          <a:prstGeom prst="ellipse">
            <a:avLst/>
          </a:prstGeom>
          <a:solidFill>
            <a:srgbClr val="F4845F"/>
          </a:solidFill>
          <a:ln w="12700">
            <a:solidFill>
              <a:srgbClr val="F4845F"/>
            </a:solidFill>
            <a:prstDash val="solid"/>
          </a:ln>
        </p:spPr>
        <p:txBody>
          <a:bodyPr/>
          <a:lstStyle/>
          <a:p>
            <a:endParaRPr lang="es-CO"/>
          </a:p>
        </p:txBody>
      </p:sp>
      <p:sp>
        <p:nvSpPr>
          <p:cNvPr id="10" name="Shape 8"/>
          <p:cNvSpPr/>
          <p:nvPr/>
        </p:nvSpPr>
        <p:spPr>
          <a:xfrm>
            <a:off x="6949440" y="1645920"/>
            <a:ext cx="320040" cy="1280160"/>
          </a:xfrm>
          <a:prstGeom prst="rect">
            <a:avLst/>
          </a:prstGeom>
          <a:solidFill>
            <a:srgbClr val="F4845F"/>
          </a:solidFill>
          <a:ln w="12700">
            <a:solidFill>
              <a:srgbClr val="F4845F"/>
            </a:solidFill>
            <a:prstDash val="solid"/>
          </a:ln>
        </p:spPr>
        <p:txBody>
          <a:bodyPr/>
          <a:lstStyle/>
          <a:p>
            <a:endParaRPr lang="es-CO"/>
          </a:p>
        </p:txBody>
      </p:sp>
      <p:sp>
        <p:nvSpPr>
          <p:cNvPr id="11" name="Shape 9"/>
          <p:cNvSpPr/>
          <p:nvPr/>
        </p:nvSpPr>
        <p:spPr>
          <a:xfrm>
            <a:off x="7269480" y="1097280"/>
            <a:ext cx="228600" cy="0"/>
          </a:xfrm>
          <a:prstGeom prst="line">
            <a:avLst/>
          </a:prstGeom>
          <a:noFill/>
          <a:ln w="12700">
            <a:solidFill>
              <a:srgbClr val="B0C4D8"/>
            </a:solidFill>
            <a:prstDash val="solid"/>
          </a:ln>
        </p:spPr>
        <p:txBody>
          <a:bodyPr/>
          <a:lstStyle/>
          <a:p>
            <a:endParaRPr lang="es-CO"/>
          </a:p>
        </p:txBody>
      </p:sp>
      <p:sp>
        <p:nvSpPr>
          <p:cNvPr id="12" name="Shape 10"/>
          <p:cNvSpPr/>
          <p:nvPr/>
        </p:nvSpPr>
        <p:spPr>
          <a:xfrm>
            <a:off x="7269480" y="1554480"/>
            <a:ext cx="228600" cy="0"/>
          </a:xfrm>
          <a:prstGeom prst="line">
            <a:avLst/>
          </a:prstGeom>
          <a:noFill/>
          <a:ln w="12700">
            <a:solidFill>
              <a:srgbClr val="B0C4D8"/>
            </a:solidFill>
            <a:prstDash val="solid"/>
          </a:ln>
        </p:spPr>
        <p:txBody>
          <a:bodyPr/>
          <a:lstStyle/>
          <a:p>
            <a:endParaRPr lang="es-CO"/>
          </a:p>
        </p:txBody>
      </p:sp>
      <p:sp>
        <p:nvSpPr>
          <p:cNvPr id="13" name="Shape 11"/>
          <p:cNvSpPr/>
          <p:nvPr/>
        </p:nvSpPr>
        <p:spPr>
          <a:xfrm>
            <a:off x="7269480" y="2011680"/>
            <a:ext cx="228600" cy="0"/>
          </a:xfrm>
          <a:prstGeom prst="line">
            <a:avLst/>
          </a:prstGeom>
          <a:noFill/>
          <a:ln w="12700">
            <a:solidFill>
              <a:srgbClr val="B0C4D8"/>
            </a:solidFill>
            <a:prstDash val="solid"/>
          </a:ln>
        </p:spPr>
        <p:txBody>
          <a:bodyPr/>
          <a:lstStyle/>
          <a:p>
            <a:endParaRPr lang="es-CO"/>
          </a:p>
        </p:txBody>
      </p:sp>
      <p:sp>
        <p:nvSpPr>
          <p:cNvPr id="14" name="Text 12"/>
          <p:cNvSpPr/>
          <p:nvPr/>
        </p:nvSpPr>
        <p:spPr>
          <a:xfrm>
            <a:off x="7543800" y="1600200"/>
            <a:ext cx="1188720" cy="320040"/>
          </a:xfrm>
          <a:prstGeom prst="rect">
            <a:avLst/>
          </a:prstGeom>
          <a:noFill/>
          <a:ln/>
        </p:spPr>
        <p:txBody>
          <a:bodyPr wrap="square" lIns="0" tIns="0" rIns="0" bIns="0" rtlCol="0" anchor="ctr"/>
          <a:lstStyle/>
          <a:p>
            <a:pPr marL="0" indent="0">
              <a:buNone/>
            </a:pPr>
            <a:r>
              <a:rPr lang="en-US" sz="1100" b="1" dirty="0">
                <a:solidFill>
                  <a:srgbClr val="F4845F"/>
                </a:solidFill>
                <a:latin typeface="Calibri" pitchFamily="34" charset="0"/>
                <a:ea typeface="Calibri" pitchFamily="34" charset="-122"/>
                <a:cs typeface="Calibri" pitchFamily="34" charset="-120"/>
              </a:rPr>
              <a:t>+0.47°C</a:t>
            </a:r>
            <a:endParaRPr lang="en-US" sz="1100" dirty="0"/>
          </a:p>
        </p:txBody>
      </p:sp>
      <p:sp>
        <p:nvSpPr>
          <p:cNvPr id="15" name="Text 13"/>
          <p:cNvSpPr/>
          <p:nvPr/>
        </p:nvSpPr>
        <p:spPr>
          <a:xfrm>
            <a:off x="7543800" y="2560320"/>
            <a:ext cx="1188720" cy="320040"/>
          </a:xfrm>
          <a:prstGeom prst="rect">
            <a:avLst/>
          </a:prstGeom>
          <a:noFill/>
          <a:ln/>
        </p:spPr>
        <p:txBody>
          <a:bodyPr wrap="square" lIns="0" tIns="0" rIns="0" bIns="0" rtlCol="0" anchor="ctr"/>
          <a:lstStyle/>
          <a:p>
            <a:pPr marL="0" indent="0">
              <a:buNone/>
            </a:pPr>
            <a:r>
              <a:rPr lang="en-US" sz="1100" dirty="0">
                <a:solidFill>
                  <a:srgbClr val="4FC3F7"/>
                </a:solidFill>
                <a:latin typeface="Calibri" pitchFamily="34" charset="0"/>
                <a:ea typeface="Calibri" pitchFamily="34" charset="-122"/>
                <a:cs typeface="Calibri" pitchFamily="34" charset="-120"/>
              </a:rPr>
              <a:t>0.00°C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4395E"/>
          </a:solidFill>
          <a:ln w="12700">
            <a:solidFill>
              <a:srgbClr val="04395E"/>
            </a:solidFill>
            <a:prstDash val="solid"/>
          </a:ln>
        </p:spPr>
        <p:txBody>
          <a:bodyPr/>
          <a:lstStyle/>
          <a:p>
            <a:endParaRPr lang="es-CO"/>
          </a:p>
        </p:txBody>
      </p:sp>
      <p:sp>
        <p:nvSpPr>
          <p:cNvPr id="3" name="Text 1"/>
          <p:cNvSpPr/>
          <p:nvPr/>
        </p:nvSpPr>
        <p:spPr>
          <a:xfrm>
            <a:off x="365760" y="137160"/>
            <a:ext cx="8229600" cy="411480"/>
          </a:xfrm>
          <a:prstGeom prst="rect">
            <a:avLst/>
          </a:prstGeom>
          <a:noFill/>
          <a:ln/>
        </p:spPr>
        <p:txBody>
          <a:bodyPr wrap="square" lIns="0" tIns="0" rIns="0" bIns="0" rtlCol="0" anchor="ctr"/>
          <a:lstStyle/>
          <a:p>
            <a:pPr marL="0" indent="0">
              <a:buNone/>
            </a:pPr>
            <a:r>
              <a:rPr lang="en-US" sz="1300" b="1" kern="0" spc="200" dirty="0">
                <a:solidFill>
                  <a:srgbClr val="00C2CB"/>
                </a:solidFill>
                <a:latin typeface="Calibri" pitchFamily="34" charset="0"/>
                <a:ea typeface="Calibri" pitchFamily="34" charset="-122"/>
                <a:cs typeface="Calibri" pitchFamily="34" charset="-120"/>
              </a:rPr>
              <a:t>¿POR QUÉ ESTUDIAR LA DISTRIBUCIÓN?</a:t>
            </a:r>
            <a:endParaRPr lang="en-US" sz="1300" dirty="0"/>
          </a:p>
        </p:txBody>
      </p:sp>
      <p:sp>
        <p:nvSpPr>
          <p:cNvPr id="6" name="Shape 4"/>
          <p:cNvSpPr/>
          <p:nvPr/>
        </p:nvSpPr>
        <p:spPr>
          <a:xfrm>
            <a:off x="265176" y="960120"/>
            <a:ext cx="8695944" cy="1226820"/>
          </a:xfrm>
          <a:prstGeom prst="rect">
            <a:avLst/>
          </a:prstGeom>
          <a:solidFill>
            <a:srgbClr val="FFFFFF"/>
          </a:solidFill>
          <a:ln w="12700">
            <a:solidFill>
              <a:srgbClr val="DEE8F0"/>
            </a:solidFill>
            <a:prstDash val="solid"/>
          </a:ln>
          <a:effectLst>
            <a:outerShdw blurRad="101600" dist="38100" dir="8100000" algn="bl" rotWithShape="0">
              <a:srgbClr val="000000">
                <a:alpha val="18000"/>
              </a:srgbClr>
            </a:outerShdw>
          </a:effectLst>
        </p:spPr>
        <p:txBody>
          <a:bodyPr/>
          <a:lstStyle/>
          <a:p>
            <a:endParaRPr lang="es-CO"/>
          </a:p>
        </p:txBody>
      </p:sp>
      <p:sp>
        <p:nvSpPr>
          <p:cNvPr id="7" name="Shape 5"/>
          <p:cNvSpPr/>
          <p:nvPr/>
        </p:nvSpPr>
        <p:spPr>
          <a:xfrm>
            <a:off x="265176" y="960120"/>
            <a:ext cx="8695944" cy="45719"/>
          </a:xfrm>
          <a:prstGeom prst="rect">
            <a:avLst/>
          </a:prstGeom>
          <a:solidFill>
            <a:srgbClr val="00C2CB"/>
          </a:solidFill>
          <a:ln w="12700">
            <a:solidFill>
              <a:srgbClr val="00C2CB"/>
            </a:solidFill>
            <a:prstDash val="solid"/>
          </a:ln>
        </p:spPr>
        <p:txBody>
          <a:bodyPr/>
          <a:lstStyle/>
          <a:p>
            <a:endParaRPr lang="es-CO"/>
          </a:p>
        </p:txBody>
      </p:sp>
      <p:sp>
        <p:nvSpPr>
          <p:cNvPr id="8" name="Text 6"/>
          <p:cNvSpPr/>
          <p:nvPr/>
        </p:nvSpPr>
        <p:spPr>
          <a:xfrm>
            <a:off x="402335" y="1097280"/>
            <a:ext cx="1799161" cy="236755"/>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9" name="Text 7"/>
          <p:cNvSpPr/>
          <p:nvPr/>
        </p:nvSpPr>
        <p:spPr>
          <a:xfrm>
            <a:off x="402336" y="1600200"/>
            <a:ext cx="7796364" cy="193708"/>
          </a:xfrm>
          <a:prstGeom prst="rect">
            <a:avLst/>
          </a:prstGeom>
          <a:noFill/>
          <a:ln/>
        </p:spPr>
        <p:txBody>
          <a:bodyPr wrap="square" lIns="0" tIns="0" rIns="0" bIns="0" rtlCol="0" anchor="ctr"/>
          <a:lstStyle/>
          <a:p>
            <a:pPr marL="0" indent="0">
              <a:buNone/>
            </a:pPr>
            <a:r>
              <a:rPr lang="en-US" sz="1300" b="1" dirty="0">
                <a:solidFill>
                  <a:srgbClr val="04395E"/>
                </a:solidFill>
                <a:latin typeface="Calibri" pitchFamily="34" charset="0"/>
                <a:ea typeface="Calibri" pitchFamily="34" charset="-122"/>
                <a:cs typeface="Calibri" pitchFamily="34" charset="-120"/>
              </a:rPr>
              <a:t>Más allá del promedio</a:t>
            </a:r>
            <a:endParaRPr lang="en-US" sz="1300" dirty="0"/>
          </a:p>
        </p:txBody>
      </p:sp>
      <p:sp>
        <p:nvSpPr>
          <p:cNvPr id="10" name="Text 8"/>
          <p:cNvSpPr/>
          <p:nvPr/>
        </p:nvSpPr>
        <p:spPr>
          <a:xfrm>
            <a:off x="2165184" y="891540"/>
            <a:ext cx="6631344" cy="1371600"/>
          </a:xfrm>
          <a:prstGeom prst="rect">
            <a:avLst/>
          </a:prstGeom>
          <a:noFill/>
          <a:ln/>
        </p:spPr>
        <p:txBody>
          <a:bodyPr wrap="square" lIns="0" tIns="0" rIns="0" bIns="0" rtlCol="0" anchor="ctr"/>
          <a:lstStyle/>
          <a:p>
            <a:pPr marL="0" indent="0">
              <a:buNone/>
            </a:pPr>
            <a:r>
              <a:rPr lang="es-ES" sz="1100" dirty="0">
                <a:solidFill>
                  <a:srgbClr val="3A5068"/>
                </a:solidFill>
                <a:latin typeface="Calibri" pitchFamily="34" charset="0"/>
                <a:ea typeface="Calibri" pitchFamily="34" charset="-122"/>
                <a:cs typeface="Calibri" pitchFamily="34" charset="-120"/>
              </a:rPr>
              <a:t>El promedio de temperatura es útil, pero insuficiente. Un pequeño aumento en la media puede multiplicar varias veces la probabilidad de experimentar un año inusualmente caliente, con consecuencias directas sobre agricultura, salud pública e infraestructura. Por eso construir tablas de frecuencia e histogramas es clave: permiten ver toda la forma de la distribución, no solo su centro. ¿Se desplazó hacia valores más altos? ¿Desaparecieron los años fríos? ¿Se volvió más variable? Esas preguntas no las responde el promedio — las responde la distribución.</a:t>
            </a:r>
            <a:endParaRPr lang="en-US" sz="1100" dirty="0"/>
          </a:p>
        </p:txBody>
      </p:sp>
      <p:sp>
        <p:nvSpPr>
          <p:cNvPr id="11" name="Shape 9"/>
          <p:cNvSpPr/>
          <p:nvPr/>
        </p:nvSpPr>
        <p:spPr>
          <a:xfrm>
            <a:off x="1673352" y="2514600"/>
            <a:ext cx="2651760" cy="1920240"/>
          </a:xfrm>
          <a:prstGeom prst="rect">
            <a:avLst/>
          </a:prstGeom>
          <a:solidFill>
            <a:srgbClr val="FFFFFF"/>
          </a:solidFill>
          <a:ln w="12700">
            <a:solidFill>
              <a:srgbClr val="DEE8F0"/>
            </a:solidFill>
            <a:prstDash val="solid"/>
          </a:ln>
          <a:effectLst>
            <a:outerShdw blurRad="101600" dist="38100" dir="8100000" algn="bl" rotWithShape="0">
              <a:srgbClr val="000000">
                <a:alpha val="18000"/>
              </a:srgbClr>
            </a:outerShdw>
          </a:effectLst>
        </p:spPr>
        <p:txBody>
          <a:bodyPr/>
          <a:lstStyle/>
          <a:p>
            <a:endParaRPr lang="es-CO"/>
          </a:p>
        </p:txBody>
      </p:sp>
      <p:sp>
        <p:nvSpPr>
          <p:cNvPr id="12" name="Shape 10"/>
          <p:cNvSpPr/>
          <p:nvPr/>
        </p:nvSpPr>
        <p:spPr>
          <a:xfrm>
            <a:off x="1673352" y="2514600"/>
            <a:ext cx="2651760" cy="91440"/>
          </a:xfrm>
          <a:prstGeom prst="rect">
            <a:avLst/>
          </a:prstGeom>
          <a:solidFill>
            <a:srgbClr val="F4845F"/>
          </a:solidFill>
          <a:ln w="12700">
            <a:solidFill>
              <a:srgbClr val="F4845F"/>
            </a:solidFill>
            <a:prstDash val="solid"/>
          </a:ln>
        </p:spPr>
        <p:txBody>
          <a:bodyPr/>
          <a:lstStyle/>
          <a:p>
            <a:endParaRPr lang="es-CO"/>
          </a:p>
        </p:txBody>
      </p:sp>
      <p:sp>
        <p:nvSpPr>
          <p:cNvPr id="13" name="Text 11"/>
          <p:cNvSpPr/>
          <p:nvPr/>
        </p:nvSpPr>
        <p:spPr>
          <a:xfrm>
            <a:off x="1810512" y="2651760"/>
            <a:ext cx="548640" cy="50292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4" name="Text 12"/>
          <p:cNvSpPr/>
          <p:nvPr/>
        </p:nvSpPr>
        <p:spPr>
          <a:xfrm>
            <a:off x="1810512" y="3154680"/>
            <a:ext cx="2377440" cy="411480"/>
          </a:xfrm>
          <a:prstGeom prst="rect">
            <a:avLst/>
          </a:prstGeom>
          <a:noFill/>
          <a:ln/>
        </p:spPr>
        <p:txBody>
          <a:bodyPr wrap="square" lIns="0" tIns="0" rIns="0" bIns="0" rtlCol="0" anchor="ctr"/>
          <a:lstStyle/>
          <a:p>
            <a:pPr marL="0" indent="0">
              <a:buNone/>
            </a:pPr>
            <a:r>
              <a:rPr lang="en-US" sz="1300" b="1" dirty="0">
                <a:solidFill>
                  <a:srgbClr val="04395E"/>
                </a:solidFill>
                <a:latin typeface="Calibri" pitchFamily="34" charset="0"/>
                <a:ea typeface="Calibri" pitchFamily="34" charset="-122"/>
                <a:cs typeface="Calibri" pitchFamily="34" charset="-120"/>
              </a:rPr>
              <a:t>Enfoque NYT</a:t>
            </a:r>
            <a:endParaRPr lang="en-US" sz="1300" dirty="0"/>
          </a:p>
        </p:txBody>
      </p:sp>
      <p:sp>
        <p:nvSpPr>
          <p:cNvPr id="15" name="Text 13"/>
          <p:cNvSpPr/>
          <p:nvPr/>
        </p:nvSpPr>
        <p:spPr>
          <a:xfrm>
            <a:off x="1810512" y="3611880"/>
            <a:ext cx="2377440" cy="822960"/>
          </a:xfrm>
          <a:prstGeom prst="rect">
            <a:avLst/>
          </a:prstGeom>
          <a:noFill/>
          <a:ln/>
        </p:spPr>
        <p:txBody>
          <a:bodyPr wrap="square" lIns="0" tIns="0" rIns="0" bIns="0" rtlCol="0" anchor="ctr"/>
          <a:lstStyle/>
          <a:p>
            <a:pPr marL="0" indent="0">
              <a:buNone/>
            </a:pPr>
            <a:r>
              <a:rPr lang="en-US" sz="1100" dirty="0">
                <a:solidFill>
                  <a:srgbClr val="3A5068"/>
                </a:solidFill>
                <a:latin typeface="Calibri" pitchFamily="34" charset="0"/>
                <a:ea typeface="Calibri" pitchFamily="34" charset="-122"/>
                <a:cs typeface="Calibri" pitchFamily="34" charset="-120"/>
              </a:rPr>
              <a:t>El New York Times comparó la frecuencia de temperaturas 'frías', 'templadas' y 'calientes' entre 1951–1980 y 1981–2010.</a:t>
            </a:r>
            <a:endParaRPr lang="en-US" sz="1100" dirty="0"/>
          </a:p>
        </p:txBody>
      </p:sp>
      <p:sp>
        <p:nvSpPr>
          <p:cNvPr id="16" name="Shape 14"/>
          <p:cNvSpPr/>
          <p:nvPr/>
        </p:nvSpPr>
        <p:spPr>
          <a:xfrm>
            <a:off x="4507992" y="2514600"/>
            <a:ext cx="2779776" cy="1920240"/>
          </a:xfrm>
          <a:prstGeom prst="rect">
            <a:avLst/>
          </a:prstGeom>
          <a:solidFill>
            <a:srgbClr val="FFFFFF"/>
          </a:solidFill>
          <a:ln w="12700">
            <a:solidFill>
              <a:srgbClr val="DEE8F0"/>
            </a:solidFill>
            <a:prstDash val="solid"/>
          </a:ln>
          <a:effectLst>
            <a:outerShdw blurRad="101600" dist="38100" dir="8100000" algn="bl" rotWithShape="0">
              <a:srgbClr val="000000">
                <a:alpha val="18000"/>
              </a:srgbClr>
            </a:outerShdw>
          </a:effectLst>
        </p:spPr>
        <p:txBody>
          <a:bodyPr/>
          <a:lstStyle/>
          <a:p>
            <a:endParaRPr lang="es-CO"/>
          </a:p>
        </p:txBody>
      </p:sp>
      <p:sp>
        <p:nvSpPr>
          <p:cNvPr id="17" name="Shape 15"/>
          <p:cNvSpPr/>
          <p:nvPr/>
        </p:nvSpPr>
        <p:spPr>
          <a:xfrm>
            <a:off x="4507992" y="2514600"/>
            <a:ext cx="2651760" cy="91440"/>
          </a:xfrm>
          <a:prstGeom prst="rect">
            <a:avLst/>
          </a:prstGeom>
          <a:solidFill>
            <a:srgbClr val="5E9FD4"/>
          </a:solidFill>
          <a:ln w="12700">
            <a:solidFill>
              <a:srgbClr val="5E9FD4"/>
            </a:solidFill>
            <a:prstDash val="solid"/>
          </a:ln>
        </p:spPr>
        <p:txBody>
          <a:bodyPr/>
          <a:lstStyle/>
          <a:p>
            <a:endParaRPr lang="es-CO"/>
          </a:p>
        </p:txBody>
      </p:sp>
      <p:sp>
        <p:nvSpPr>
          <p:cNvPr id="18" name="Text 16"/>
          <p:cNvSpPr/>
          <p:nvPr/>
        </p:nvSpPr>
        <p:spPr>
          <a:xfrm>
            <a:off x="4645152" y="2651760"/>
            <a:ext cx="548640" cy="502920"/>
          </a:xfrm>
          <a:prstGeom prst="rect">
            <a:avLst/>
          </a:prstGeom>
          <a:noFill/>
          <a:ln/>
        </p:spPr>
        <p:txBody>
          <a:bodyPr wrap="square" lIns="0" tIns="0" rIns="0" bIns="0" rtlCol="0" anchor="ctr"/>
          <a:lstStyle/>
          <a:p>
            <a:pPr marL="0" indent="0">
              <a:buNone/>
            </a:pPr>
            <a:r>
              <a:rPr lang="en-US" sz="2400" dirty="0">
                <a:solidFill>
                  <a:srgbClr val="000000"/>
                </a:solidFill>
              </a:rPr>
              <a:t>🌡️</a:t>
            </a:r>
            <a:endParaRPr lang="en-US" sz="2400" dirty="0"/>
          </a:p>
        </p:txBody>
      </p:sp>
      <p:sp>
        <p:nvSpPr>
          <p:cNvPr id="19" name="Text 17"/>
          <p:cNvSpPr/>
          <p:nvPr/>
        </p:nvSpPr>
        <p:spPr>
          <a:xfrm>
            <a:off x="4645152" y="3154680"/>
            <a:ext cx="2377440" cy="411480"/>
          </a:xfrm>
          <a:prstGeom prst="rect">
            <a:avLst/>
          </a:prstGeom>
          <a:noFill/>
          <a:ln/>
        </p:spPr>
        <p:txBody>
          <a:bodyPr wrap="square" lIns="0" tIns="0" rIns="0" bIns="0" rtlCol="0" anchor="ctr"/>
          <a:lstStyle/>
          <a:p>
            <a:pPr marL="0" indent="0">
              <a:buNone/>
            </a:pPr>
            <a:r>
              <a:rPr lang="en-US" sz="1300" b="1" dirty="0">
                <a:solidFill>
                  <a:srgbClr val="04395E"/>
                </a:solidFill>
                <a:latin typeface="Calibri" pitchFamily="34" charset="0"/>
                <a:ea typeface="Calibri" pitchFamily="34" charset="-122"/>
                <a:cs typeface="Calibri" pitchFamily="34" charset="-120"/>
              </a:rPr>
              <a:t>Nuestra replicación</a:t>
            </a:r>
            <a:endParaRPr lang="en-US" sz="1300" dirty="0"/>
          </a:p>
        </p:txBody>
      </p:sp>
      <p:sp>
        <p:nvSpPr>
          <p:cNvPr id="20" name="Text 18"/>
          <p:cNvSpPr/>
          <p:nvPr/>
        </p:nvSpPr>
        <p:spPr>
          <a:xfrm>
            <a:off x="4645152" y="3329940"/>
            <a:ext cx="2377440" cy="1104900"/>
          </a:xfrm>
          <a:prstGeom prst="rect">
            <a:avLst/>
          </a:prstGeom>
          <a:noFill/>
          <a:ln/>
        </p:spPr>
        <p:txBody>
          <a:bodyPr wrap="square" lIns="0" tIns="0" rIns="0" bIns="0" rtlCol="0" anchor="ctr"/>
          <a:lstStyle/>
          <a:p>
            <a:pPr marL="0" indent="0">
              <a:buNone/>
            </a:pPr>
            <a:r>
              <a:rPr lang="en-US" sz="1100" dirty="0">
                <a:solidFill>
                  <a:srgbClr val="3A5068"/>
                </a:solidFill>
                <a:latin typeface="Calibri" pitchFamily="34" charset="0"/>
                <a:ea typeface="Calibri" pitchFamily="34" charset="-122"/>
                <a:cs typeface="Calibri" pitchFamily="34" charset="-120"/>
              </a:rPr>
              <a:t>Construimos tablas de </a:t>
            </a:r>
            <a:r>
              <a:rPr lang="en-US" sz="1100" dirty="0" err="1">
                <a:solidFill>
                  <a:srgbClr val="3A5068"/>
                </a:solidFill>
                <a:latin typeface="Calibri" pitchFamily="34" charset="0"/>
                <a:ea typeface="Calibri" pitchFamily="34" charset="-122"/>
                <a:cs typeface="Calibri" pitchFamily="34" charset="-120"/>
              </a:rPr>
              <a:t>frecuencias</a:t>
            </a:r>
            <a:r>
              <a:rPr lang="en-US" sz="1100" dirty="0">
                <a:solidFill>
                  <a:srgbClr val="3A5068"/>
                </a:solidFill>
                <a:latin typeface="Calibri" pitchFamily="34" charset="0"/>
                <a:ea typeface="Calibri" pitchFamily="34" charset="-122"/>
                <a:cs typeface="Calibri" pitchFamily="34" charset="-120"/>
              </a:rPr>
              <a:t> e </a:t>
            </a:r>
            <a:r>
              <a:rPr lang="en-US" sz="1100" dirty="0" err="1">
                <a:solidFill>
                  <a:srgbClr val="3A5068"/>
                </a:solidFill>
                <a:latin typeface="Calibri" pitchFamily="34" charset="0"/>
                <a:ea typeface="Calibri" pitchFamily="34" charset="-122"/>
                <a:cs typeface="Calibri" pitchFamily="34" charset="-120"/>
              </a:rPr>
              <a:t>histogramas</a:t>
            </a:r>
            <a:r>
              <a:rPr lang="en-US" sz="1100" dirty="0">
                <a:solidFill>
                  <a:srgbClr val="3A5068"/>
                </a:solidFill>
                <a:latin typeface="Calibri" pitchFamily="34" charset="0"/>
                <a:ea typeface="Calibri" pitchFamily="34" charset="-122"/>
                <a:cs typeface="Calibri" pitchFamily="34" charset="-120"/>
              </a:rPr>
              <a:t> para medir si las temperaturas se volvieron más extremas.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4395E"/>
          </a:solidFill>
          <a:ln w="12700">
            <a:solidFill>
              <a:srgbClr val="04395E"/>
            </a:solidFill>
            <a:prstDash val="solid"/>
          </a:ln>
        </p:spPr>
        <p:txBody>
          <a:bodyPr/>
          <a:lstStyle/>
          <a:p>
            <a:endParaRPr lang="es-CO"/>
          </a:p>
        </p:txBody>
      </p:sp>
      <p:sp>
        <p:nvSpPr>
          <p:cNvPr id="3" name="Text 1"/>
          <p:cNvSpPr/>
          <p:nvPr/>
        </p:nvSpPr>
        <p:spPr>
          <a:xfrm>
            <a:off x="365760" y="137160"/>
            <a:ext cx="8229600" cy="411480"/>
          </a:xfrm>
          <a:prstGeom prst="rect">
            <a:avLst/>
          </a:prstGeom>
          <a:noFill/>
          <a:ln/>
        </p:spPr>
        <p:txBody>
          <a:bodyPr wrap="square" lIns="0" tIns="0" rIns="0" bIns="0" rtlCol="0" anchor="ctr"/>
          <a:lstStyle/>
          <a:p>
            <a:pPr marL="0" indent="0">
              <a:buNone/>
            </a:pPr>
            <a:r>
              <a:rPr lang="en-US" sz="1300" b="1" kern="0" spc="200" dirty="0">
                <a:solidFill>
                  <a:srgbClr val="00C2CB"/>
                </a:solidFill>
                <a:latin typeface="Calibri" pitchFamily="34" charset="0"/>
                <a:ea typeface="Calibri" pitchFamily="34" charset="-122"/>
                <a:cs typeface="Calibri" pitchFamily="34" charset="-120"/>
              </a:rPr>
              <a:t>1.2.1  TABLAS DE FRECUENCIA</a:t>
            </a:r>
            <a:endParaRPr lang="en-US" sz="1300" dirty="0"/>
          </a:p>
        </p:txBody>
      </p:sp>
      <p:sp>
        <p:nvSpPr>
          <p:cNvPr id="4" name="Text 2"/>
          <p:cNvSpPr/>
          <p:nvPr/>
        </p:nvSpPr>
        <p:spPr>
          <a:xfrm>
            <a:off x="365760" y="777240"/>
            <a:ext cx="8412480" cy="320040"/>
          </a:xfrm>
          <a:prstGeom prst="rect">
            <a:avLst/>
          </a:prstGeom>
          <a:noFill/>
          <a:ln/>
        </p:spPr>
        <p:txBody>
          <a:bodyPr wrap="square" lIns="0" tIns="0" rIns="0" bIns="0" rtlCol="0" anchor="ctr"/>
          <a:lstStyle/>
          <a:p>
            <a:pPr marL="0" indent="0">
              <a:buNone/>
            </a:pPr>
            <a:r>
              <a:rPr lang="en-US" sz="1100" i="1" dirty="0">
                <a:solidFill>
                  <a:srgbClr val="4A6A80"/>
                </a:solidFill>
                <a:latin typeface="Calibri" pitchFamily="34" charset="0"/>
                <a:ea typeface="Calibri" pitchFamily="34" charset="-122"/>
                <a:cs typeface="Calibri" pitchFamily="34" charset="-120"/>
              </a:rPr>
              <a:t>Anomalía anual (J-D) | Columna de referencia: promedio 1951–1980 = 0°C</a:t>
            </a:r>
            <a:endParaRPr lang="en-US" sz="1100" dirty="0"/>
          </a:p>
        </p:txBody>
      </p:sp>
      <p:sp>
        <p:nvSpPr>
          <p:cNvPr id="5" name="Text 3"/>
          <p:cNvSpPr/>
          <p:nvPr/>
        </p:nvSpPr>
        <p:spPr>
          <a:xfrm>
            <a:off x="914400" y="1176391"/>
            <a:ext cx="3749040" cy="32004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Período 1951–1980</a:t>
            </a:r>
            <a:endParaRPr lang="en-US" sz="1300" dirty="0"/>
          </a:p>
        </p:txBody>
      </p:sp>
      <p:sp>
        <p:nvSpPr>
          <p:cNvPr id="7" name="Text 4"/>
          <p:cNvSpPr/>
          <p:nvPr/>
        </p:nvSpPr>
        <p:spPr>
          <a:xfrm>
            <a:off x="5212080" y="1176391"/>
            <a:ext cx="3749040" cy="320040"/>
          </a:xfrm>
          <a:prstGeom prst="rect">
            <a:avLst/>
          </a:prstGeom>
          <a:noFill/>
          <a:ln/>
        </p:spPr>
        <p:txBody>
          <a:bodyPr wrap="square" lIns="0" tIns="0" rIns="0" bIns="0" rtlCol="0" anchor="ctr"/>
          <a:lstStyle/>
          <a:p>
            <a:pPr marL="0" indent="0">
              <a:buNone/>
            </a:pPr>
            <a:r>
              <a:rPr lang="en-US" sz="1300" b="1" dirty="0">
                <a:solidFill>
                  <a:srgbClr val="F4845F"/>
                </a:solidFill>
                <a:latin typeface="Calibri" pitchFamily="34" charset="0"/>
                <a:ea typeface="Calibri" pitchFamily="34" charset="-122"/>
                <a:cs typeface="Calibri" pitchFamily="34" charset="-120"/>
              </a:rPr>
              <a:t>Período 1981–2010</a:t>
            </a:r>
            <a:endParaRPr lang="en-US" sz="1300" dirty="0"/>
          </a:p>
        </p:txBody>
      </p:sp>
      <p:sp>
        <p:nvSpPr>
          <p:cNvPr id="9" name="Shape 5"/>
          <p:cNvSpPr/>
          <p:nvPr/>
        </p:nvSpPr>
        <p:spPr>
          <a:xfrm>
            <a:off x="365760" y="4434840"/>
            <a:ext cx="8412480" cy="502920"/>
          </a:xfrm>
          <a:prstGeom prst="rect">
            <a:avLst/>
          </a:prstGeom>
          <a:solidFill>
            <a:srgbClr val="04395E"/>
          </a:solidFill>
          <a:ln w="12700">
            <a:solidFill>
              <a:srgbClr val="04395E"/>
            </a:solidFill>
            <a:prstDash val="solid"/>
          </a:ln>
        </p:spPr>
        <p:txBody>
          <a:bodyPr/>
          <a:lstStyle/>
          <a:p>
            <a:endParaRPr lang="es-CO"/>
          </a:p>
        </p:txBody>
      </p:sp>
      <p:sp>
        <p:nvSpPr>
          <p:cNvPr id="10" name="Text 6"/>
          <p:cNvSpPr/>
          <p:nvPr/>
        </p:nvSpPr>
        <p:spPr>
          <a:xfrm>
            <a:off x="502920" y="4462272"/>
            <a:ext cx="8138160" cy="4572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En 1951–1980 los valores se concentran alrededor de 0°C · En 1981–2010 no hay ningún valor negativo — toda la distribución se desplazó hacia el calor.</a:t>
            </a:r>
            <a:endParaRPr lang="en-US" sz="1050" dirty="0"/>
          </a:p>
        </p:txBody>
      </p:sp>
      <p:pic>
        <p:nvPicPr>
          <p:cNvPr id="11" name="Imagen 10">
            <a:extLst>
              <a:ext uri="{FF2B5EF4-FFF2-40B4-BE49-F238E27FC236}">
                <a16:creationId xmlns:a16="http://schemas.microsoft.com/office/drawing/2014/main" id="{A22E5371-62E7-80E4-B6C0-F6B8FFB0BFCE}"/>
              </a:ext>
            </a:extLst>
          </p:cNvPr>
          <p:cNvPicPr>
            <a:picLocks noChangeAspect="1"/>
          </p:cNvPicPr>
          <p:nvPr/>
        </p:nvPicPr>
        <p:blipFill>
          <a:blip r:embed="rId3"/>
          <a:stretch>
            <a:fillRect/>
          </a:stretch>
        </p:blipFill>
        <p:spPr>
          <a:xfrm>
            <a:off x="762952" y="1700266"/>
            <a:ext cx="3533775" cy="2219325"/>
          </a:xfrm>
          <a:prstGeom prst="rect">
            <a:avLst/>
          </a:prstGeom>
        </p:spPr>
      </p:pic>
      <p:pic>
        <p:nvPicPr>
          <p:cNvPr id="12" name="Imagen 11">
            <a:extLst>
              <a:ext uri="{FF2B5EF4-FFF2-40B4-BE49-F238E27FC236}">
                <a16:creationId xmlns:a16="http://schemas.microsoft.com/office/drawing/2014/main" id="{AC1F003E-0A81-5D46-C0DF-8494431D51EE}"/>
              </a:ext>
            </a:extLst>
          </p:cNvPr>
          <p:cNvPicPr>
            <a:picLocks noChangeAspect="1"/>
          </p:cNvPicPr>
          <p:nvPr/>
        </p:nvPicPr>
        <p:blipFill>
          <a:blip r:embed="rId4"/>
          <a:stretch>
            <a:fillRect/>
          </a:stretch>
        </p:blipFill>
        <p:spPr>
          <a:xfrm>
            <a:off x="4663440" y="1679311"/>
            <a:ext cx="3870960" cy="22649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4395E"/>
          </a:solidFill>
          <a:ln w="12700">
            <a:solidFill>
              <a:srgbClr val="04395E"/>
            </a:solidFill>
            <a:prstDash val="solid"/>
          </a:ln>
        </p:spPr>
        <p:txBody>
          <a:bodyPr/>
          <a:lstStyle/>
          <a:p>
            <a:endParaRPr lang="es-CO"/>
          </a:p>
        </p:txBody>
      </p:sp>
      <p:sp>
        <p:nvSpPr>
          <p:cNvPr id="3" name="Text 1"/>
          <p:cNvSpPr/>
          <p:nvPr/>
        </p:nvSpPr>
        <p:spPr>
          <a:xfrm>
            <a:off x="365760" y="221478"/>
            <a:ext cx="8229600" cy="411480"/>
          </a:xfrm>
          <a:prstGeom prst="rect">
            <a:avLst/>
          </a:prstGeom>
          <a:noFill/>
          <a:ln/>
        </p:spPr>
        <p:txBody>
          <a:bodyPr wrap="square" lIns="0" tIns="0" rIns="0" bIns="0" rtlCol="0" anchor="ctr"/>
          <a:lstStyle/>
          <a:p>
            <a:pPr marL="0" indent="0">
              <a:buNone/>
            </a:pPr>
            <a:r>
              <a:rPr lang="en-US" sz="1400" b="1" kern="0" spc="200" dirty="0">
                <a:solidFill>
                  <a:srgbClr val="00C2CB"/>
                </a:solidFill>
                <a:latin typeface="Calibri" pitchFamily="34" charset="0"/>
                <a:ea typeface="Calibri" pitchFamily="34" charset="-122"/>
                <a:cs typeface="Calibri" pitchFamily="34" charset="-120"/>
              </a:rPr>
              <a:t>1.2.2  </a:t>
            </a:r>
            <a:r>
              <a:rPr lang="en-US" sz="1400" b="1" kern="0" spc="200" dirty="0" err="1">
                <a:solidFill>
                  <a:srgbClr val="00C2CB"/>
                </a:solidFill>
                <a:latin typeface="Calibri" pitchFamily="34" charset="0"/>
                <a:ea typeface="Calibri" pitchFamily="34" charset="-122"/>
                <a:cs typeface="Calibri" pitchFamily="34" charset="-120"/>
              </a:rPr>
              <a:t>Distribución</a:t>
            </a:r>
            <a:r>
              <a:rPr lang="en-US" sz="1400" b="1" kern="0" spc="200" dirty="0">
                <a:solidFill>
                  <a:srgbClr val="00C2CB"/>
                </a:solidFill>
                <a:latin typeface="Calibri" pitchFamily="34" charset="0"/>
                <a:ea typeface="Calibri" pitchFamily="34" charset="-122"/>
                <a:cs typeface="Calibri" pitchFamily="34" charset="-120"/>
              </a:rPr>
              <a:t> de </a:t>
            </a:r>
            <a:r>
              <a:rPr lang="en-US" sz="1400" b="1" kern="0" spc="200" dirty="0" err="1">
                <a:solidFill>
                  <a:srgbClr val="00C2CB"/>
                </a:solidFill>
                <a:latin typeface="Calibri" pitchFamily="34" charset="0"/>
                <a:ea typeface="Calibri" pitchFamily="34" charset="-122"/>
                <a:cs typeface="Calibri" pitchFamily="34" charset="-120"/>
              </a:rPr>
              <a:t>anomalias</a:t>
            </a:r>
            <a:r>
              <a:rPr lang="en-US" sz="1400" b="1" kern="0" spc="200" dirty="0">
                <a:solidFill>
                  <a:srgbClr val="00C2CB"/>
                </a:solidFill>
                <a:latin typeface="Calibri" pitchFamily="34" charset="0"/>
                <a:ea typeface="Calibri" pitchFamily="34" charset="-122"/>
                <a:cs typeface="Calibri" pitchFamily="34" charset="-120"/>
              </a:rPr>
              <a:t> </a:t>
            </a:r>
            <a:r>
              <a:rPr lang="en-US" sz="1400" b="1" kern="0" spc="200" dirty="0" err="1">
                <a:solidFill>
                  <a:srgbClr val="00C2CB"/>
                </a:solidFill>
                <a:latin typeface="Calibri" pitchFamily="34" charset="0"/>
                <a:ea typeface="Calibri" pitchFamily="34" charset="-122"/>
                <a:cs typeface="Calibri" pitchFamily="34" charset="-120"/>
              </a:rPr>
              <a:t>anuales</a:t>
            </a:r>
            <a:r>
              <a:rPr lang="en-US" sz="1400" b="1" kern="0" spc="200" dirty="0">
                <a:solidFill>
                  <a:srgbClr val="00C2CB"/>
                </a:solidFill>
                <a:latin typeface="Calibri" pitchFamily="34" charset="0"/>
                <a:ea typeface="Calibri" pitchFamily="34" charset="-122"/>
                <a:cs typeface="Calibri" pitchFamily="34" charset="-120"/>
              </a:rPr>
              <a:t> de </a:t>
            </a:r>
            <a:r>
              <a:rPr lang="en-US" sz="1400" b="1" kern="0" spc="200" dirty="0" err="1">
                <a:solidFill>
                  <a:srgbClr val="00C2CB"/>
                </a:solidFill>
                <a:latin typeface="Calibri" pitchFamily="34" charset="0"/>
                <a:ea typeface="Calibri" pitchFamily="34" charset="-122"/>
                <a:cs typeface="Calibri" pitchFamily="34" charset="-120"/>
              </a:rPr>
              <a:t>temperatura</a:t>
            </a:r>
            <a:r>
              <a:rPr lang="en-US" sz="1400" b="1" kern="0" spc="200" dirty="0">
                <a:solidFill>
                  <a:srgbClr val="00C2CB"/>
                </a:solidFill>
                <a:latin typeface="Calibri" pitchFamily="34" charset="0"/>
                <a:ea typeface="Calibri" pitchFamily="34" charset="-122"/>
                <a:cs typeface="Calibri" pitchFamily="34" charset="-120"/>
              </a:rPr>
              <a:t> (J-D) – </a:t>
            </a:r>
            <a:r>
              <a:rPr lang="en-US" sz="1400" b="1" kern="0" spc="200" dirty="0" err="1">
                <a:solidFill>
                  <a:srgbClr val="00C2CB"/>
                </a:solidFill>
                <a:latin typeface="Calibri" pitchFamily="34" charset="0"/>
                <a:ea typeface="Calibri" pitchFamily="34" charset="-122"/>
                <a:cs typeface="Calibri" pitchFamily="34" charset="-120"/>
              </a:rPr>
              <a:t>Hemisferio</a:t>
            </a:r>
            <a:r>
              <a:rPr lang="en-US" sz="1400" b="1" kern="0" spc="200" dirty="0">
                <a:solidFill>
                  <a:srgbClr val="00C2CB"/>
                </a:solidFill>
                <a:latin typeface="Calibri" pitchFamily="34" charset="0"/>
                <a:ea typeface="Calibri" pitchFamily="34" charset="-122"/>
                <a:cs typeface="Calibri" pitchFamily="34" charset="-120"/>
              </a:rPr>
              <a:t> </a:t>
            </a:r>
            <a:r>
              <a:rPr lang="en-US" sz="1400" b="1" kern="0" spc="200" dirty="0" err="1">
                <a:solidFill>
                  <a:srgbClr val="00C2CB"/>
                </a:solidFill>
                <a:latin typeface="Calibri" pitchFamily="34" charset="0"/>
                <a:ea typeface="Calibri" pitchFamily="34" charset="-122"/>
                <a:cs typeface="Calibri" pitchFamily="34" charset="-120"/>
              </a:rPr>
              <a:t>norte</a:t>
            </a:r>
            <a:endParaRPr lang="en-US" sz="1400" b="1" kern="0" spc="200" dirty="0">
              <a:solidFill>
                <a:srgbClr val="00C2CB"/>
              </a:solidFill>
              <a:latin typeface="Calibri" pitchFamily="34" charset="0"/>
              <a:ea typeface="Calibri" pitchFamily="34" charset="-122"/>
              <a:cs typeface="Calibri" pitchFamily="34" charset="-120"/>
            </a:endParaRPr>
          </a:p>
          <a:p>
            <a:pPr marL="0" indent="0">
              <a:buNone/>
            </a:pPr>
            <a:endParaRPr lang="en-US" sz="1400" dirty="0"/>
          </a:p>
        </p:txBody>
      </p:sp>
      <p:sp>
        <p:nvSpPr>
          <p:cNvPr id="48" name="Text 46"/>
          <p:cNvSpPr/>
          <p:nvPr/>
        </p:nvSpPr>
        <p:spPr>
          <a:xfrm>
            <a:off x="1059180" y="4823460"/>
            <a:ext cx="8412480" cy="182880"/>
          </a:xfrm>
          <a:prstGeom prst="rect">
            <a:avLst/>
          </a:prstGeom>
          <a:noFill/>
          <a:ln/>
        </p:spPr>
        <p:txBody>
          <a:bodyPr wrap="square" lIns="0" tIns="0" rIns="0" bIns="0" rtlCol="0" anchor="ctr"/>
          <a:lstStyle/>
          <a:p>
            <a:pPr marL="0" indent="0">
              <a:buNone/>
            </a:pPr>
            <a:r>
              <a:rPr lang="en-US" sz="800" i="1" dirty="0">
                <a:solidFill>
                  <a:srgbClr val="B0C4D8"/>
                </a:solidFill>
                <a:latin typeface="Calibri" pitchFamily="34" charset="0"/>
                <a:ea typeface="Calibri" pitchFamily="34" charset="-122"/>
                <a:cs typeface="Calibri" pitchFamily="34" charset="-120"/>
              </a:rPr>
              <a:t>Fuente: NASA GISS — Northern Hemisphere Temperature Anomalies</a:t>
            </a:r>
            <a:endParaRPr lang="en-US" sz="800" dirty="0"/>
          </a:p>
        </p:txBody>
      </p:sp>
      <p:pic>
        <p:nvPicPr>
          <p:cNvPr id="49" name="Imagen 48">
            <a:extLst>
              <a:ext uri="{FF2B5EF4-FFF2-40B4-BE49-F238E27FC236}">
                <a16:creationId xmlns:a16="http://schemas.microsoft.com/office/drawing/2014/main" id="{AD3A029F-E78D-2073-B012-39B285739AE9}"/>
              </a:ext>
            </a:extLst>
          </p:cNvPr>
          <p:cNvPicPr>
            <a:picLocks noChangeAspect="1"/>
          </p:cNvPicPr>
          <p:nvPr/>
        </p:nvPicPr>
        <p:blipFill>
          <a:blip r:embed="rId3"/>
          <a:srcRect t="9815" r="48619"/>
          <a:stretch>
            <a:fillRect/>
          </a:stretch>
        </p:blipFill>
        <p:spPr>
          <a:xfrm>
            <a:off x="525781" y="770812"/>
            <a:ext cx="3344490" cy="1972029"/>
          </a:xfrm>
          <a:prstGeom prst="rect">
            <a:avLst/>
          </a:prstGeom>
        </p:spPr>
      </p:pic>
      <p:pic>
        <p:nvPicPr>
          <p:cNvPr id="50" name="Imagen 49">
            <a:extLst>
              <a:ext uri="{FF2B5EF4-FFF2-40B4-BE49-F238E27FC236}">
                <a16:creationId xmlns:a16="http://schemas.microsoft.com/office/drawing/2014/main" id="{8844DB0E-0529-D199-1065-2BF999DFC28D}"/>
              </a:ext>
            </a:extLst>
          </p:cNvPr>
          <p:cNvPicPr>
            <a:picLocks noChangeAspect="1"/>
          </p:cNvPicPr>
          <p:nvPr/>
        </p:nvPicPr>
        <p:blipFill>
          <a:blip r:embed="rId3"/>
          <a:srcRect l="50000" t="10067"/>
          <a:stretch>
            <a:fillRect/>
          </a:stretch>
        </p:blipFill>
        <p:spPr>
          <a:xfrm>
            <a:off x="525781" y="2880001"/>
            <a:ext cx="3344491" cy="1806299"/>
          </a:xfrm>
          <a:prstGeom prst="rect">
            <a:avLst/>
          </a:prstGeom>
        </p:spPr>
      </p:pic>
      <p:sp>
        <p:nvSpPr>
          <p:cNvPr id="51" name="Shape 2">
            <a:extLst>
              <a:ext uri="{FF2B5EF4-FFF2-40B4-BE49-F238E27FC236}">
                <a16:creationId xmlns:a16="http://schemas.microsoft.com/office/drawing/2014/main" id="{1622A752-858F-1E78-730F-AE1E1BBBCA34}"/>
              </a:ext>
            </a:extLst>
          </p:cNvPr>
          <p:cNvSpPr/>
          <p:nvPr/>
        </p:nvSpPr>
        <p:spPr>
          <a:xfrm>
            <a:off x="4137660" y="754380"/>
            <a:ext cx="4846320" cy="2045970"/>
          </a:xfrm>
          <a:prstGeom prst="rect">
            <a:avLst/>
          </a:prstGeom>
          <a:solidFill>
            <a:srgbClr val="FFFFFF"/>
          </a:solidFill>
          <a:ln w="12700">
            <a:solidFill>
              <a:srgbClr val="DEE8F0"/>
            </a:solidFill>
            <a:prstDash val="solid"/>
          </a:ln>
          <a:effectLst>
            <a:outerShdw blurRad="101600" dist="38100" dir="8100000" algn="bl" rotWithShape="0">
              <a:srgbClr val="000000">
                <a:alpha val="18000"/>
              </a:srgbClr>
            </a:outerShdw>
          </a:effectLst>
        </p:spPr>
        <p:txBody>
          <a:bodyPr/>
          <a:lstStyle/>
          <a:p>
            <a:endParaRPr lang="es-CO"/>
          </a:p>
        </p:txBody>
      </p:sp>
      <p:sp>
        <p:nvSpPr>
          <p:cNvPr id="52" name="Shape 3">
            <a:extLst>
              <a:ext uri="{FF2B5EF4-FFF2-40B4-BE49-F238E27FC236}">
                <a16:creationId xmlns:a16="http://schemas.microsoft.com/office/drawing/2014/main" id="{B030F6C1-6C22-0D61-F138-72E39903A48B}"/>
              </a:ext>
            </a:extLst>
          </p:cNvPr>
          <p:cNvSpPr/>
          <p:nvPr/>
        </p:nvSpPr>
        <p:spPr>
          <a:xfrm>
            <a:off x="4137660" y="754380"/>
            <a:ext cx="4846320" cy="457200"/>
          </a:xfrm>
          <a:prstGeom prst="rect">
            <a:avLst/>
          </a:prstGeom>
          <a:solidFill>
            <a:srgbClr val="065A82"/>
          </a:solidFill>
          <a:ln w="12700">
            <a:solidFill>
              <a:srgbClr val="065A82"/>
            </a:solidFill>
            <a:prstDash val="solid"/>
          </a:ln>
        </p:spPr>
        <p:txBody>
          <a:bodyPr/>
          <a:lstStyle/>
          <a:p>
            <a:endParaRPr lang="es-CO"/>
          </a:p>
        </p:txBody>
      </p:sp>
      <p:sp>
        <p:nvSpPr>
          <p:cNvPr id="53" name="Text 4">
            <a:extLst>
              <a:ext uri="{FF2B5EF4-FFF2-40B4-BE49-F238E27FC236}">
                <a16:creationId xmlns:a16="http://schemas.microsoft.com/office/drawing/2014/main" id="{EDAA6A97-0BA1-A821-66CB-5A6F47E7486A}"/>
              </a:ext>
            </a:extLst>
          </p:cNvPr>
          <p:cNvSpPr/>
          <p:nvPr/>
        </p:nvSpPr>
        <p:spPr>
          <a:xfrm>
            <a:off x="4274820" y="800100"/>
            <a:ext cx="36576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SIMILITUDES</a:t>
            </a:r>
            <a:endParaRPr lang="en-US" sz="1300" dirty="0"/>
          </a:p>
        </p:txBody>
      </p:sp>
      <p:sp>
        <p:nvSpPr>
          <p:cNvPr id="54" name="Shape 5">
            <a:extLst>
              <a:ext uri="{FF2B5EF4-FFF2-40B4-BE49-F238E27FC236}">
                <a16:creationId xmlns:a16="http://schemas.microsoft.com/office/drawing/2014/main" id="{4159AC8D-13BD-3C07-EC9B-DFAFB3A61B89}"/>
              </a:ext>
            </a:extLst>
          </p:cNvPr>
          <p:cNvSpPr/>
          <p:nvPr/>
        </p:nvSpPr>
        <p:spPr>
          <a:xfrm>
            <a:off x="4320540" y="1394460"/>
            <a:ext cx="228600" cy="228600"/>
          </a:xfrm>
          <a:prstGeom prst="ellipse">
            <a:avLst/>
          </a:prstGeom>
          <a:solidFill>
            <a:srgbClr val="00C2CB"/>
          </a:solidFill>
          <a:ln w="12700">
            <a:solidFill>
              <a:srgbClr val="00C2CB"/>
            </a:solidFill>
            <a:prstDash val="solid"/>
          </a:ln>
        </p:spPr>
        <p:txBody>
          <a:bodyPr/>
          <a:lstStyle/>
          <a:p>
            <a:endParaRPr lang="es-CO"/>
          </a:p>
        </p:txBody>
      </p:sp>
      <p:sp>
        <p:nvSpPr>
          <p:cNvPr id="55" name="Text 6">
            <a:extLst>
              <a:ext uri="{FF2B5EF4-FFF2-40B4-BE49-F238E27FC236}">
                <a16:creationId xmlns:a16="http://schemas.microsoft.com/office/drawing/2014/main" id="{0F72B005-2E2C-06D3-F5F3-2616A847D7DC}"/>
              </a:ext>
            </a:extLst>
          </p:cNvPr>
          <p:cNvSpPr/>
          <p:nvPr/>
        </p:nvSpPr>
        <p:spPr>
          <a:xfrm>
            <a:off x="4663439" y="1279801"/>
            <a:ext cx="3954780" cy="484632"/>
          </a:xfrm>
          <a:prstGeom prst="rect">
            <a:avLst/>
          </a:prstGeom>
          <a:noFill/>
          <a:ln/>
        </p:spPr>
        <p:txBody>
          <a:bodyPr wrap="square" lIns="0" tIns="0" rIns="0" bIns="0" rtlCol="0" anchor="ctr"/>
          <a:lstStyle/>
          <a:p>
            <a:pPr marL="0" indent="0">
              <a:buNone/>
            </a:pPr>
            <a:r>
              <a:rPr lang="en-US" sz="1200" dirty="0">
                <a:solidFill>
                  <a:srgbClr val="1A3A50"/>
                </a:solidFill>
                <a:latin typeface="Calibri" pitchFamily="34" charset="0"/>
                <a:ea typeface="Calibri" pitchFamily="34" charset="-122"/>
                <a:cs typeface="Calibri" pitchFamily="34" charset="-120"/>
              </a:rPr>
              <a:t>Ambas son distribuciones unimodales con un pico claro.</a:t>
            </a:r>
            <a:endParaRPr lang="en-US" sz="1200" dirty="0"/>
          </a:p>
        </p:txBody>
      </p:sp>
      <p:sp>
        <p:nvSpPr>
          <p:cNvPr id="56" name="Shape 7">
            <a:extLst>
              <a:ext uri="{FF2B5EF4-FFF2-40B4-BE49-F238E27FC236}">
                <a16:creationId xmlns:a16="http://schemas.microsoft.com/office/drawing/2014/main" id="{2E1A422C-82BF-72AD-D6AC-A785C7702914}"/>
              </a:ext>
            </a:extLst>
          </p:cNvPr>
          <p:cNvSpPr/>
          <p:nvPr/>
        </p:nvSpPr>
        <p:spPr>
          <a:xfrm>
            <a:off x="4320540" y="1878330"/>
            <a:ext cx="228600" cy="228600"/>
          </a:xfrm>
          <a:prstGeom prst="ellipse">
            <a:avLst/>
          </a:prstGeom>
          <a:solidFill>
            <a:srgbClr val="00C2CB"/>
          </a:solidFill>
          <a:ln w="12700">
            <a:solidFill>
              <a:srgbClr val="00C2CB"/>
            </a:solidFill>
            <a:prstDash val="solid"/>
          </a:ln>
        </p:spPr>
        <p:txBody>
          <a:bodyPr/>
          <a:lstStyle/>
          <a:p>
            <a:endParaRPr lang="es-CO"/>
          </a:p>
        </p:txBody>
      </p:sp>
      <p:sp>
        <p:nvSpPr>
          <p:cNvPr id="57" name="Text 8">
            <a:extLst>
              <a:ext uri="{FF2B5EF4-FFF2-40B4-BE49-F238E27FC236}">
                <a16:creationId xmlns:a16="http://schemas.microsoft.com/office/drawing/2014/main" id="{97A29A50-90F1-1782-6C87-4F748A09F729}"/>
              </a:ext>
            </a:extLst>
          </p:cNvPr>
          <p:cNvSpPr/>
          <p:nvPr/>
        </p:nvSpPr>
        <p:spPr>
          <a:xfrm>
            <a:off x="4640579" y="1601343"/>
            <a:ext cx="3977639" cy="822960"/>
          </a:xfrm>
          <a:prstGeom prst="rect">
            <a:avLst/>
          </a:prstGeom>
          <a:noFill/>
          <a:ln/>
        </p:spPr>
        <p:txBody>
          <a:bodyPr wrap="square" lIns="0" tIns="0" rIns="0" bIns="0" rtlCol="0" anchor="ctr"/>
          <a:lstStyle/>
          <a:p>
            <a:pPr marL="0" indent="0">
              <a:buNone/>
            </a:pPr>
            <a:r>
              <a:rPr lang="en-US" sz="1200" dirty="0">
                <a:solidFill>
                  <a:srgbClr val="1A3A50"/>
                </a:solidFill>
                <a:latin typeface="Calibri" pitchFamily="34" charset="0"/>
                <a:ea typeface="Calibri" pitchFamily="34" charset="-122"/>
                <a:cs typeface="Calibri" pitchFamily="34" charset="-120"/>
              </a:rPr>
              <a:t>Los valores se concentran en un rango estrecho alrededor de su respectiva media.</a:t>
            </a:r>
            <a:endParaRPr lang="en-US" sz="1200" dirty="0"/>
          </a:p>
        </p:txBody>
      </p:sp>
      <p:sp>
        <p:nvSpPr>
          <p:cNvPr id="58" name="Shape 9">
            <a:extLst>
              <a:ext uri="{FF2B5EF4-FFF2-40B4-BE49-F238E27FC236}">
                <a16:creationId xmlns:a16="http://schemas.microsoft.com/office/drawing/2014/main" id="{581CAF35-8606-99C5-927A-635B944CF523}"/>
              </a:ext>
            </a:extLst>
          </p:cNvPr>
          <p:cNvSpPr/>
          <p:nvPr/>
        </p:nvSpPr>
        <p:spPr>
          <a:xfrm>
            <a:off x="4320540" y="2320290"/>
            <a:ext cx="228600" cy="228600"/>
          </a:xfrm>
          <a:prstGeom prst="ellipse">
            <a:avLst/>
          </a:prstGeom>
          <a:solidFill>
            <a:srgbClr val="00C2CB"/>
          </a:solidFill>
          <a:ln w="12700">
            <a:solidFill>
              <a:srgbClr val="00C2CB"/>
            </a:solidFill>
            <a:prstDash val="solid"/>
          </a:ln>
        </p:spPr>
        <p:txBody>
          <a:bodyPr/>
          <a:lstStyle/>
          <a:p>
            <a:endParaRPr lang="es-CO"/>
          </a:p>
        </p:txBody>
      </p:sp>
      <p:sp>
        <p:nvSpPr>
          <p:cNvPr id="59" name="Text 10">
            <a:extLst>
              <a:ext uri="{FF2B5EF4-FFF2-40B4-BE49-F238E27FC236}">
                <a16:creationId xmlns:a16="http://schemas.microsoft.com/office/drawing/2014/main" id="{90965AF1-EC40-A1B7-7548-3717015F1364}"/>
              </a:ext>
            </a:extLst>
          </p:cNvPr>
          <p:cNvSpPr/>
          <p:nvPr/>
        </p:nvSpPr>
        <p:spPr>
          <a:xfrm>
            <a:off x="4640580" y="2098548"/>
            <a:ext cx="4091940" cy="822960"/>
          </a:xfrm>
          <a:prstGeom prst="rect">
            <a:avLst/>
          </a:prstGeom>
          <a:noFill/>
          <a:ln/>
        </p:spPr>
        <p:txBody>
          <a:bodyPr wrap="square" lIns="0" tIns="0" rIns="0" bIns="0" rtlCol="0" anchor="ctr"/>
          <a:lstStyle/>
          <a:p>
            <a:pPr marL="0" indent="0">
              <a:buNone/>
            </a:pPr>
            <a:r>
              <a:rPr lang="en-US" sz="1200" dirty="0">
                <a:solidFill>
                  <a:srgbClr val="1A3A50"/>
                </a:solidFill>
                <a:latin typeface="Calibri" pitchFamily="34" charset="0"/>
                <a:ea typeface="Calibri" pitchFamily="34" charset="-122"/>
                <a:cs typeface="Calibri" pitchFamily="34" charset="-120"/>
              </a:rPr>
              <a:t>La frecuencia máxima en ambos períodos es de 5 años en un mismo intervalo.</a:t>
            </a:r>
            <a:endParaRPr lang="en-US" sz="1200" dirty="0"/>
          </a:p>
        </p:txBody>
      </p:sp>
      <p:sp>
        <p:nvSpPr>
          <p:cNvPr id="60" name="Shape 11">
            <a:extLst>
              <a:ext uri="{FF2B5EF4-FFF2-40B4-BE49-F238E27FC236}">
                <a16:creationId xmlns:a16="http://schemas.microsoft.com/office/drawing/2014/main" id="{52AAF3FF-31D5-23F9-91CF-5073ED7DB296}"/>
              </a:ext>
            </a:extLst>
          </p:cNvPr>
          <p:cNvSpPr/>
          <p:nvPr/>
        </p:nvSpPr>
        <p:spPr>
          <a:xfrm>
            <a:off x="4137660" y="2906268"/>
            <a:ext cx="4899660" cy="2100072"/>
          </a:xfrm>
          <a:prstGeom prst="rect">
            <a:avLst/>
          </a:prstGeom>
          <a:solidFill>
            <a:srgbClr val="FFFFFF"/>
          </a:solidFill>
          <a:ln w="12700">
            <a:solidFill>
              <a:srgbClr val="F0D8D0"/>
            </a:solidFill>
            <a:prstDash val="solid"/>
          </a:ln>
          <a:effectLst>
            <a:outerShdw blurRad="101600" dist="38100" dir="8100000" algn="bl" rotWithShape="0">
              <a:srgbClr val="000000">
                <a:alpha val="18000"/>
              </a:srgbClr>
            </a:outerShdw>
          </a:effectLst>
        </p:spPr>
        <p:txBody>
          <a:bodyPr/>
          <a:lstStyle/>
          <a:p>
            <a:endParaRPr lang="es-CO"/>
          </a:p>
        </p:txBody>
      </p:sp>
      <p:sp>
        <p:nvSpPr>
          <p:cNvPr id="61" name="Shape 12">
            <a:extLst>
              <a:ext uri="{FF2B5EF4-FFF2-40B4-BE49-F238E27FC236}">
                <a16:creationId xmlns:a16="http://schemas.microsoft.com/office/drawing/2014/main" id="{31E99745-EFE8-82D4-7E00-BCC25030D739}"/>
              </a:ext>
            </a:extLst>
          </p:cNvPr>
          <p:cNvSpPr/>
          <p:nvPr/>
        </p:nvSpPr>
        <p:spPr>
          <a:xfrm>
            <a:off x="4137660" y="2906268"/>
            <a:ext cx="4899660" cy="422396"/>
          </a:xfrm>
          <a:prstGeom prst="rect">
            <a:avLst/>
          </a:prstGeom>
          <a:solidFill>
            <a:srgbClr val="7A2020"/>
          </a:solidFill>
          <a:ln w="12700">
            <a:solidFill>
              <a:srgbClr val="7A2020"/>
            </a:solidFill>
            <a:prstDash val="solid"/>
          </a:ln>
        </p:spPr>
        <p:txBody>
          <a:bodyPr/>
          <a:lstStyle/>
          <a:p>
            <a:endParaRPr lang="es-CO" dirty="0"/>
          </a:p>
        </p:txBody>
      </p:sp>
      <p:sp>
        <p:nvSpPr>
          <p:cNvPr id="62" name="Text 13">
            <a:extLst>
              <a:ext uri="{FF2B5EF4-FFF2-40B4-BE49-F238E27FC236}">
                <a16:creationId xmlns:a16="http://schemas.microsoft.com/office/drawing/2014/main" id="{759CD1FC-1770-C130-5CF7-C54368D52C0E}"/>
              </a:ext>
            </a:extLst>
          </p:cNvPr>
          <p:cNvSpPr/>
          <p:nvPr/>
        </p:nvSpPr>
        <p:spPr>
          <a:xfrm>
            <a:off x="4274820" y="2951988"/>
            <a:ext cx="3840480" cy="337917"/>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DIFERENCIAS</a:t>
            </a:r>
            <a:endParaRPr lang="en-US" sz="1300" dirty="0"/>
          </a:p>
        </p:txBody>
      </p:sp>
      <p:sp>
        <p:nvSpPr>
          <p:cNvPr id="63" name="Shape 14">
            <a:extLst>
              <a:ext uri="{FF2B5EF4-FFF2-40B4-BE49-F238E27FC236}">
                <a16:creationId xmlns:a16="http://schemas.microsoft.com/office/drawing/2014/main" id="{12EA6B4C-06DA-CE17-FD06-7D92DB725515}"/>
              </a:ext>
            </a:extLst>
          </p:cNvPr>
          <p:cNvSpPr/>
          <p:nvPr/>
        </p:nvSpPr>
        <p:spPr>
          <a:xfrm>
            <a:off x="4274820" y="3418443"/>
            <a:ext cx="4632960" cy="623509"/>
          </a:xfrm>
          <a:prstGeom prst="rect">
            <a:avLst/>
          </a:prstGeom>
          <a:solidFill>
            <a:srgbClr val="FFF8F6"/>
          </a:solidFill>
          <a:ln w="6350">
            <a:solidFill>
              <a:srgbClr val="F0C0B0"/>
            </a:solidFill>
            <a:prstDash val="solid"/>
          </a:ln>
        </p:spPr>
        <p:txBody>
          <a:bodyPr/>
          <a:lstStyle/>
          <a:p>
            <a:endParaRPr lang="es-CO"/>
          </a:p>
        </p:txBody>
      </p:sp>
      <p:sp>
        <p:nvSpPr>
          <p:cNvPr id="64" name="Text 15">
            <a:extLst>
              <a:ext uri="{FF2B5EF4-FFF2-40B4-BE49-F238E27FC236}">
                <a16:creationId xmlns:a16="http://schemas.microsoft.com/office/drawing/2014/main" id="{09CAFAF2-32C2-C287-39B9-CDC069A7007A}"/>
              </a:ext>
            </a:extLst>
          </p:cNvPr>
          <p:cNvSpPr/>
          <p:nvPr/>
        </p:nvSpPr>
        <p:spPr>
          <a:xfrm>
            <a:off x="4366260" y="3546348"/>
            <a:ext cx="1188720" cy="307505"/>
          </a:xfrm>
          <a:prstGeom prst="rect">
            <a:avLst/>
          </a:prstGeom>
          <a:noFill/>
          <a:ln/>
        </p:spPr>
        <p:txBody>
          <a:bodyPr wrap="square" lIns="0" tIns="0" rIns="0" bIns="0" rtlCol="0" anchor="ctr"/>
          <a:lstStyle/>
          <a:p>
            <a:pPr marL="0" indent="0">
              <a:buNone/>
            </a:pPr>
            <a:r>
              <a:rPr lang="en-US" sz="2000" b="1" dirty="0">
                <a:solidFill>
                  <a:srgbClr val="4FC3F7"/>
                </a:solidFill>
                <a:latin typeface="Calibri" pitchFamily="34" charset="0"/>
                <a:ea typeface="Calibri" pitchFamily="34" charset="-122"/>
                <a:cs typeface="Calibri" pitchFamily="34" charset="-120"/>
              </a:rPr>
              <a:t>0.00°C</a:t>
            </a:r>
            <a:endParaRPr lang="en-US" sz="2000" dirty="0"/>
          </a:p>
        </p:txBody>
      </p:sp>
      <p:sp>
        <p:nvSpPr>
          <p:cNvPr id="65" name="Text 16">
            <a:extLst>
              <a:ext uri="{FF2B5EF4-FFF2-40B4-BE49-F238E27FC236}">
                <a16:creationId xmlns:a16="http://schemas.microsoft.com/office/drawing/2014/main" id="{E0901C72-04AC-82F3-7BBB-AD3D8D6DF937}"/>
              </a:ext>
            </a:extLst>
          </p:cNvPr>
          <p:cNvSpPr/>
          <p:nvPr/>
        </p:nvSpPr>
        <p:spPr>
          <a:xfrm>
            <a:off x="5440680" y="3569208"/>
            <a:ext cx="2651760" cy="307505"/>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dirty="0">
                <a:solidFill>
                  <a:srgbClr val="4A1010"/>
                </a:solidFill>
                <a:latin typeface="Calibri" pitchFamily="34" charset="0"/>
                <a:ea typeface="Calibri" pitchFamily="34" charset="-122"/>
                <a:cs typeface="Calibri" pitchFamily="34" charset="-120"/>
              </a:rPr>
              <a:t>Media 1951–80</a:t>
            </a:r>
          </a:p>
          <a:p>
            <a:pPr marL="171450" indent="-171450">
              <a:buFont typeface="Arial" panose="020B0604020202020204" pitchFamily="34" charset="0"/>
              <a:buChar char="•"/>
            </a:pPr>
            <a:r>
              <a:rPr lang="en-US" sz="1100" dirty="0">
                <a:solidFill>
                  <a:srgbClr val="4A1010"/>
                </a:solidFill>
                <a:latin typeface="Calibri" pitchFamily="34" charset="0"/>
                <a:ea typeface="Calibri" pitchFamily="34" charset="-122"/>
                <a:cs typeface="Calibri" pitchFamily="34" charset="-120"/>
              </a:rPr>
              <a:t>Los </a:t>
            </a:r>
            <a:r>
              <a:rPr lang="en-US" sz="1100" dirty="0" err="1">
                <a:solidFill>
                  <a:srgbClr val="4A1010"/>
                </a:solidFill>
                <a:latin typeface="Calibri" pitchFamily="34" charset="0"/>
                <a:ea typeface="Calibri" pitchFamily="34" charset="-122"/>
                <a:cs typeface="Calibri" pitchFamily="34" charset="-120"/>
              </a:rPr>
              <a:t>valores</a:t>
            </a:r>
            <a:r>
              <a:rPr lang="en-US" sz="1100" dirty="0">
                <a:solidFill>
                  <a:srgbClr val="4A1010"/>
                </a:solidFill>
                <a:latin typeface="Calibri" pitchFamily="34" charset="0"/>
                <a:ea typeface="Calibri" pitchFamily="34" charset="-122"/>
                <a:cs typeface="Calibri" pitchFamily="34" charset="-120"/>
              </a:rPr>
              <a:t> </a:t>
            </a:r>
            <a:r>
              <a:rPr lang="en-US" sz="1100" dirty="0" err="1">
                <a:solidFill>
                  <a:srgbClr val="4A1010"/>
                </a:solidFill>
                <a:latin typeface="Calibri" pitchFamily="34" charset="0"/>
                <a:ea typeface="Calibri" pitchFamily="34" charset="-122"/>
                <a:cs typeface="Calibri" pitchFamily="34" charset="-120"/>
              </a:rPr>
              <a:t>oscilan</a:t>
            </a:r>
            <a:r>
              <a:rPr lang="en-US" sz="1100" dirty="0">
                <a:solidFill>
                  <a:srgbClr val="4A1010"/>
                </a:solidFill>
                <a:latin typeface="Calibri" pitchFamily="34" charset="0"/>
                <a:ea typeface="Calibri" pitchFamily="34" charset="-122"/>
                <a:cs typeface="Calibri" pitchFamily="34" charset="-120"/>
              </a:rPr>
              <a:t> entre -0,25°C y 0,25°C</a:t>
            </a:r>
          </a:p>
          <a:p>
            <a:pPr marL="171450" indent="-171450">
              <a:buFont typeface="Arial" panose="020B0604020202020204" pitchFamily="34" charset="0"/>
              <a:buChar char="•"/>
            </a:pPr>
            <a:r>
              <a:rPr lang="en-US" sz="1100" dirty="0">
                <a:solidFill>
                  <a:srgbClr val="4A1010"/>
                </a:solidFill>
                <a:latin typeface="Calibri" pitchFamily="34" charset="0"/>
                <a:ea typeface="Calibri" pitchFamily="34" charset="-122"/>
                <a:cs typeface="Calibri" pitchFamily="34" charset="-120"/>
              </a:rPr>
              <a:t>Es </a:t>
            </a:r>
            <a:r>
              <a:rPr lang="en-US" sz="1100" dirty="0" err="1">
                <a:solidFill>
                  <a:srgbClr val="4A1010"/>
                </a:solidFill>
                <a:latin typeface="Calibri" pitchFamily="34" charset="0"/>
                <a:ea typeface="Calibri" pitchFamily="34" charset="-122"/>
                <a:cs typeface="Calibri" pitchFamily="34" charset="-120"/>
              </a:rPr>
              <a:t>el</a:t>
            </a:r>
            <a:r>
              <a:rPr lang="en-US" sz="1100" dirty="0">
                <a:solidFill>
                  <a:srgbClr val="4A1010"/>
                </a:solidFill>
                <a:latin typeface="Calibri" pitchFamily="34" charset="0"/>
                <a:ea typeface="Calibri" pitchFamily="34" charset="-122"/>
                <a:cs typeface="Calibri" pitchFamily="34" charset="-120"/>
              </a:rPr>
              <a:t> </a:t>
            </a:r>
            <a:r>
              <a:rPr lang="en-US" sz="1100" dirty="0" err="1">
                <a:solidFill>
                  <a:srgbClr val="4A1010"/>
                </a:solidFill>
                <a:latin typeface="Calibri" pitchFamily="34" charset="0"/>
                <a:ea typeface="Calibri" pitchFamily="34" charset="-122"/>
                <a:cs typeface="Calibri" pitchFamily="34" charset="-120"/>
              </a:rPr>
              <a:t>periodo</a:t>
            </a:r>
            <a:r>
              <a:rPr lang="en-US" sz="1100" dirty="0">
                <a:solidFill>
                  <a:srgbClr val="4A1010"/>
                </a:solidFill>
                <a:latin typeface="Calibri" pitchFamily="34" charset="0"/>
                <a:ea typeface="Calibri" pitchFamily="34" charset="-122"/>
                <a:cs typeface="Calibri" pitchFamily="34" charset="-120"/>
              </a:rPr>
              <a:t> de </a:t>
            </a:r>
            <a:r>
              <a:rPr lang="en-US" sz="1100" dirty="0" err="1">
                <a:solidFill>
                  <a:srgbClr val="4A1010"/>
                </a:solidFill>
                <a:latin typeface="Calibri" pitchFamily="34" charset="0"/>
                <a:ea typeface="Calibri" pitchFamily="34" charset="-122"/>
                <a:cs typeface="Calibri" pitchFamily="34" charset="-120"/>
              </a:rPr>
              <a:t>referencia</a:t>
            </a:r>
            <a:endParaRPr lang="en-US" sz="1100" dirty="0">
              <a:solidFill>
                <a:srgbClr val="4A1010"/>
              </a:solidFill>
              <a:latin typeface="Calibri" pitchFamily="34" charset="0"/>
              <a:ea typeface="Calibri" pitchFamily="34" charset="-122"/>
              <a:cs typeface="Calibri" pitchFamily="34" charset="-120"/>
            </a:endParaRPr>
          </a:p>
        </p:txBody>
      </p:sp>
      <p:sp>
        <p:nvSpPr>
          <p:cNvPr id="66" name="Shape 17">
            <a:extLst>
              <a:ext uri="{FF2B5EF4-FFF2-40B4-BE49-F238E27FC236}">
                <a16:creationId xmlns:a16="http://schemas.microsoft.com/office/drawing/2014/main" id="{D3170C9B-067C-B7DF-B793-0DE5690B81CC}"/>
              </a:ext>
            </a:extLst>
          </p:cNvPr>
          <p:cNvSpPr/>
          <p:nvPr/>
        </p:nvSpPr>
        <p:spPr>
          <a:xfrm>
            <a:off x="4274820" y="4110173"/>
            <a:ext cx="4632960" cy="770796"/>
          </a:xfrm>
          <a:prstGeom prst="rect">
            <a:avLst/>
          </a:prstGeom>
          <a:solidFill>
            <a:srgbClr val="FFF0ED"/>
          </a:solidFill>
          <a:ln w="6350">
            <a:solidFill>
              <a:srgbClr val="F0C0B0"/>
            </a:solidFill>
            <a:prstDash val="solid"/>
          </a:ln>
        </p:spPr>
        <p:txBody>
          <a:bodyPr/>
          <a:lstStyle/>
          <a:p>
            <a:endParaRPr lang="es-CO" dirty="0"/>
          </a:p>
        </p:txBody>
      </p:sp>
      <p:sp>
        <p:nvSpPr>
          <p:cNvPr id="67" name="Text 18">
            <a:extLst>
              <a:ext uri="{FF2B5EF4-FFF2-40B4-BE49-F238E27FC236}">
                <a16:creationId xmlns:a16="http://schemas.microsoft.com/office/drawing/2014/main" id="{A779E893-E155-2AD2-39B2-B34A92255603}"/>
              </a:ext>
            </a:extLst>
          </p:cNvPr>
          <p:cNvSpPr/>
          <p:nvPr/>
        </p:nvSpPr>
        <p:spPr>
          <a:xfrm>
            <a:off x="4320540" y="4385881"/>
            <a:ext cx="1188720" cy="294691"/>
          </a:xfrm>
          <a:prstGeom prst="rect">
            <a:avLst/>
          </a:prstGeom>
          <a:noFill/>
          <a:ln/>
        </p:spPr>
        <p:txBody>
          <a:bodyPr wrap="square" lIns="0" tIns="0" rIns="0" bIns="0" rtlCol="0" anchor="ctr"/>
          <a:lstStyle/>
          <a:p>
            <a:pPr marL="0" indent="0">
              <a:buNone/>
            </a:pPr>
            <a:r>
              <a:rPr lang="en-US" sz="2000" b="1" dirty="0">
                <a:solidFill>
                  <a:srgbClr val="F4845F"/>
                </a:solidFill>
                <a:latin typeface="Calibri" pitchFamily="34" charset="0"/>
                <a:ea typeface="Calibri" pitchFamily="34" charset="-122"/>
                <a:cs typeface="Calibri" pitchFamily="34" charset="-120"/>
              </a:rPr>
              <a:t>+0.47°C</a:t>
            </a:r>
            <a:endParaRPr lang="en-US" sz="2000" dirty="0"/>
          </a:p>
        </p:txBody>
      </p:sp>
      <p:sp>
        <p:nvSpPr>
          <p:cNvPr id="68" name="Text 19">
            <a:extLst>
              <a:ext uri="{FF2B5EF4-FFF2-40B4-BE49-F238E27FC236}">
                <a16:creationId xmlns:a16="http://schemas.microsoft.com/office/drawing/2014/main" id="{077C6810-C413-E9E2-AA84-24628D1A6D77}"/>
              </a:ext>
            </a:extLst>
          </p:cNvPr>
          <p:cNvSpPr/>
          <p:nvPr/>
        </p:nvSpPr>
        <p:spPr>
          <a:xfrm>
            <a:off x="5158740" y="4153384"/>
            <a:ext cx="3642360" cy="640829"/>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100" dirty="0">
                <a:solidFill>
                  <a:srgbClr val="4A1010"/>
                </a:solidFill>
                <a:latin typeface="Calibri" pitchFamily="34" charset="0"/>
                <a:ea typeface="Calibri" pitchFamily="34" charset="-122"/>
                <a:cs typeface="Calibri" pitchFamily="34" charset="-120"/>
              </a:rPr>
              <a:t>Media 1981–2010</a:t>
            </a:r>
          </a:p>
          <a:p>
            <a:pPr marL="171450" indent="-171450">
              <a:buFont typeface="Arial" panose="020B0604020202020204" pitchFamily="34" charset="0"/>
              <a:buChar char="•"/>
            </a:pPr>
            <a:r>
              <a:rPr lang="en-US" sz="1100" dirty="0">
                <a:solidFill>
                  <a:srgbClr val="4A1010"/>
                </a:solidFill>
                <a:latin typeface="Calibri" pitchFamily="34" charset="0"/>
                <a:ea typeface="Calibri" pitchFamily="34" charset="-122"/>
                <a:cs typeface="Calibri" pitchFamily="34" charset="-120"/>
              </a:rPr>
              <a:t>Los </a:t>
            </a:r>
            <a:r>
              <a:rPr lang="en-US" sz="1100" dirty="0" err="1">
                <a:solidFill>
                  <a:srgbClr val="4A1010"/>
                </a:solidFill>
                <a:latin typeface="Calibri" pitchFamily="34" charset="0"/>
                <a:ea typeface="Calibri" pitchFamily="34" charset="-122"/>
                <a:cs typeface="Calibri" pitchFamily="34" charset="-120"/>
              </a:rPr>
              <a:t>valores</a:t>
            </a:r>
            <a:r>
              <a:rPr lang="en-US" sz="1100" dirty="0">
                <a:solidFill>
                  <a:srgbClr val="4A1010"/>
                </a:solidFill>
                <a:latin typeface="Calibri" pitchFamily="34" charset="0"/>
                <a:ea typeface="Calibri" pitchFamily="34" charset="-122"/>
                <a:cs typeface="Calibri" pitchFamily="34" charset="-120"/>
              </a:rPr>
              <a:t> </a:t>
            </a:r>
            <a:r>
              <a:rPr lang="en-US" sz="1100" dirty="0" err="1">
                <a:solidFill>
                  <a:srgbClr val="4A1010"/>
                </a:solidFill>
                <a:latin typeface="Calibri" pitchFamily="34" charset="0"/>
                <a:ea typeface="Calibri" pitchFamily="34" charset="-122"/>
                <a:cs typeface="Calibri" pitchFamily="34" charset="-120"/>
              </a:rPr>
              <a:t>oscilan</a:t>
            </a:r>
            <a:r>
              <a:rPr lang="en-US" sz="1100" dirty="0">
                <a:solidFill>
                  <a:srgbClr val="4A1010"/>
                </a:solidFill>
                <a:latin typeface="Calibri" pitchFamily="34" charset="0"/>
                <a:ea typeface="Calibri" pitchFamily="34" charset="-122"/>
                <a:cs typeface="Calibri" pitchFamily="34" charset="-120"/>
              </a:rPr>
              <a:t> entre 0°C hasta +0,9°C</a:t>
            </a:r>
          </a:p>
          <a:p>
            <a:pPr marL="171450" indent="-171450">
              <a:buFont typeface="Arial" panose="020B0604020202020204" pitchFamily="34" charset="0"/>
              <a:buChar char="•"/>
            </a:pPr>
            <a:r>
              <a:rPr lang="en-US" sz="1100" dirty="0">
                <a:solidFill>
                  <a:srgbClr val="4A1010"/>
                </a:solidFill>
                <a:latin typeface="Calibri" pitchFamily="34" charset="0"/>
                <a:ea typeface="Calibri" pitchFamily="34" charset="-122"/>
                <a:cs typeface="Calibri" pitchFamily="34" charset="-120"/>
              </a:rPr>
              <a:t>No hay </a:t>
            </a:r>
            <a:r>
              <a:rPr lang="en-US" sz="1100" dirty="0" err="1">
                <a:solidFill>
                  <a:srgbClr val="4A1010"/>
                </a:solidFill>
                <a:latin typeface="Calibri" pitchFamily="34" charset="0"/>
                <a:ea typeface="Calibri" pitchFamily="34" charset="-122"/>
                <a:cs typeface="Calibri" pitchFamily="34" charset="-120"/>
              </a:rPr>
              <a:t>anomalias</a:t>
            </a:r>
            <a:r>
              <a:rPr lang="en-US" sz="1100" dirty="0">
                <a:solidFill>
                  <a:srgbClr val="4A1010"/>
                </a:solidFill>
                <a:latin typeface="Calibri" pitchFamily="34" charset="0"/>
                <a:ea typeface="Calibri" pitchFamily="34" charset="-122"/>
                <a:cs typeface="Calibri" pitchFamily="34" charset="-120"/>
              </a:rPr>
              <a:t> </a:t>
            </a:r>
            <a:r>
              <a:rPr lang="en-US" sz="1100" dirty="0" err="1">
                <a:solidFill>
                  <a:srgbClr val="4A1010"/>
                </a:solidFill>
                <a:latin typeface="Calibri" pitchFamily="34" charset="0"/>
                <a:ea typeface="Calibri" pitchFamily="34" charset="-122"/>
                <a:cs typeface="Calibri" pitchFamily="34" charset="-120"/>
              </a:rPr>
              <a:t>negativas</a:t>
            </a:r>
            <a:endParaRPr lang="en-US" sz="1100" dirty="0">
              <a:solidFill>
                <a:srgbClr val="4A1010"/>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n-US" sz="1100" dirty="0">
                <a:solidFill>
                  <a:srgbClr val="4A1010"/>
                </a:solidFill>
                <a:latin typeface="Calibri" pitchFamily="34" charset="0"/>
                <a:ea typeface="Calibri" pitchFamily="34" charset="-122"/>
                <a:cs typeface="Calibri" pitchFamily="34" charset="-120"/>
              </a:rPr>
              <a:t>Se </a:t>
            </a:r>
            <a:r>
              <a:rPr lang="en-US" sz="1100" dirty="0" err="1">
                <a:solidFill>
                  <a:srgbClr val="4A1010"/>
                </a:solidFill>
                <a:latin typeface="Calibri" pitchFamily="34" charset="0"/>
                <a:ea typeface="Calibri" pitchFamily="34" charset="-122"/>
                <a:cs typeface="Calibri" pitchFamily="34" charset="-120"/>
              </a:rPr>
              <a:t>observa</a:t>
            </a:r>
            <a:r>
              <a:rPr lang="en-US" sz="1100" dirty="0">
                <a:solidFill>
                  <a:srgbClr val="4A1010"/>
                </a:solidFill>
                <a:latin typeface="Calibri" pitchFamily="34" charset="0"/>
                <a:ea typeface="Calibri" pitchFamily="34" charset="-122"/>
                <a:cs typeface="Calibri" pitchFamily="34" charset="-120"/>
              </a:rPr>
              <a:t> </a:t>
            </a:r>
            <a:r>
              <a:rPr lang="en-US" sz="1100" dirty="0" err="1">
                <a:solidFill>
                  <a:srgbClr val="4A1010"/>
                </a:solidFill>
                <a:latin typeface="Calibri" pitchFamily="34" charset="0"/>
                <a:ea typeface="Calibri" pitchFamily="34" charset="-122"/>
                <a:cs typeface="Calibri" pitchFamily="34" charset="-120"/>
              </a:rPr>
              <a:t>aumento</a:t>
            </a:r>
            <a:r>
              <a:rPr lang="en-US" sz="1100" dirty="0">
                <a:solidFill>
                  <a:srgbClr val="4A1010"/>
                </a:solidFill>
                <a:latin typeface="Calibri" pitchFamily="34" charset="0"/>
                <a:ea typeface="Calibri" pitchFamily="34" charset="-122"/>
                <a:cs typeface="Calibri" pitchFamily="34" charset="-120"/>
              </a:rPr>
              <a:t> de </a:t>
            </a:r>
            <a:r>
              <a:rPr lang="en-US" sz="1100" dirty="0" err="1">
                <a:solidFill>
                  <a:srgbClr val="4A1010"/>
                </a:solidFill>
                <a:latin typeface="Calibri" pitchFamily="34" charset="0"/>
                <a:ea typeface="Calibri" pitchFamily="34" charset="-122"/>
                <a:cs typeface="Calibri" pitchFamily="34" charset="-120"/>
              </a:rPr>
              <a:t>anomalia</a:t>
            </a:r>
            <a:r>
              <a:rPr lang="en-US" sz="1100" dirty="0">
                <a:solidFill>
                  <a:srgbClr val="4A1010"/>
                </a:solidFill>
                <a:latin typeface="Calibri" pitchFamily="34" charset="0"/>
                <a:ea typeface="Calibri" pitchFamily="34" charset="-122"/>
                <a:cs typeface="Calibri" pitchFamily="34" charset="-120"/>
              </a:rPr>
              <a:t> de </a:t>
            </a:r>
            <a:r>
              <a:rPr lang="en-US" sz="1100" dirty="0" err="1">
                <a:solidFill>
                  <a:srgbClr val="4A1010"/>
                </a:solidFill>
                <a:latin typeface="Calibri" pitchFamily="34" charset="0"/>
                <a:ea typeface="Calibri" pitchFamily="34" charset="-122"/>
                <a:cs typeface="Calibri" pitchFamily="34" charset="-120"/>
              </a:rPr>
              <a:t>temperatura</a:t>
            </a:r>
            <a:r>
              <a:rPr lang="en-US" sz="1100" dirty="0">
                <a:solidFill>
                  <a:srgbClr val="4A1010"/>
                </a:solidFill>
                <a:latin typeface="Calibri" pitchFamily="34" charset="0"/>
                <a:ea typeface="Calibri" pitchFamily="34" charset="-122"/>
                <a:cs typeface="Calibri" pitchFamily="34" charset="-120"/>
              </a:rPr>
              <a:t> </a:t>
            </a:r>
            <a:r>
              <a:rPr lang="en-US" sz="1100" dirty="0" err="1">
                <a:solidFill>
                  <a:srgbClr val="4A1010"/>
                </a:solidFill>
                <a:latin typeface="Calibri" pitchFamily="34" charset="0"/>
                <a:ea typeface="Calibri" pitchFamily="34" charset="-122"/>
                <a:cs typeface="Calibri" pitchFamily="34" charset="-120"/>
              </a:rPr>
              <a:t>sostenido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4395E"/>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65A82"/>
          </a:solidFill>
          <a:ln w="12700">
            <a:solidFill>
              <a:srgbClr val="065A82"/>
            </a:solidFill>
            <a:prstDash val="solid"/>
          </a:ln>
        </p:spPr>
        <p:txBody>
          <a:bodyPr/>
          <a:lstStyle/>
          <a:p>
            <a:endParaRPr lang="es-CO"/>
          </a:p>
        </p:txBody>
      </p:sp>
      <p:sp>
        <p:nvSpPr>
          <p:cNvPr id="3" name="Text 1"/>
          <p:cNvSpPr/>
          <p:nvPr/>
        </p:nvSpPr>
        <p:spPr>
          <a:xfrm>
            <a:off x="365760" y="137160"/>
            <a:ext cx="8229600" cy="411480"/>
          </a:xfrm>
          <a:prstGeom prst="rect">
            <a:avLst/>
          </a:prstGeom>
          <a:noFill/>
          <a:ln/>
        </p:spPr>
        <p:txBody>
          <a:bodyPr wrap="square" lIns="0" tIns="0" rIns="0" bIns="0" rtlCol="0" anchor="ctr"/>
          <a:lstStyle/>
          <a:p>
            <a:pPr marL="0" indent="0">
              <a:buNone/>
            </a:pPr>
            <a:r>
              <a:rPr lang="en-US" sz="1300" b="1" kern="0" spc="200" dirty="0">
                <a:solidFill>
                  <a:srgbClr val="00C2CB"/>
                </a:solidFill>
                <a:latin typeface="Calibri" pitchFamily="34" charset="0"/>
                <a:ea typeface="Calibri" pitchFamily="34" charset="-122"/>
                <a:cs typeface="Calibri" pitchFamily="34" charset="-120"/>
              </a:rPr>
              <a:t>CONCLUSIONES — PARTE 1.2.1-2</a:t>
            </a:r>
            <a:endParaRPr lang="en-US" sz="1300" dirty="0"/>
          </a:p>
        </p:txBody>
      </p:sp>
      <p:sp>
        <p:nvSpPr>
          <p:cNvPr id="8" name="Shape 6"/>
          <p:cNvSpPr/>
          <p:nvPr/>
        </p:nvSpPr>
        <p:spPr>
          <a:xfrm>
            <a:off x="842010" y="891540"/>
            <a:ext cx="2933700" cy="1546860"/>
          </a:xfrm>
          <a:prstGeom prst="rect">
            <a:avLst/>
          </a:prstGeom>
          <a:solidFill>
            <a:srgbClr val="0A2A3A"/>
          </a:solidFill>
          <a:ln w="12700">
            <a:solidFill>
              <a:srgbClr val="5EEAD4"/>
            </a:solidFill>
            <a:prstDash val="solid"/>
          </a:ln>
          <a:effectLst>
            <a:outerShdw blurRad="101600" dist="38100" dir="8100000" algn="bl" rotWithShape="0">
              <a:srgbClr val="000000">
                <a:alpha val="18000"/>
              </a:srgbClr>
            </a:outerShdw>
          </a:effectLst>
        </p:spPr>
        <p:txBody>
          <a:bodyPr/>
          <a:lstStyle/>
          <a:p>
            <a:r>
              <a:rPr lang="es-ES" sz="1200" dirty="0">
                <a:solidFill>
                  <a:srgbClr val="B0C4D8"/>
                </a:solidFill>
                <a:latin typeface="Calibri" pitchFamily="34" charset="0"/>
                <a:ea typeface="Calibri" pitchFamily="34" charset="-122"/>
                <a:cs typeface="Calibri" pitchFamily="34" charset="-120"/>
              </a:rPr>
              <a:t>01 — El desplazamiento es total y sin excepciones. Las tablas muestran que en 1951–1980 los intervalos negativos (-0.4 a 0.0°C) concentraban el 53% de los años. En 1981–2010, esos mismos intervalos tienen frecuencia 0. </a:t>
            </a:r>
            <a:endParaRPr lang="es-CO" sz="1200" dirty="0"/>
          </a:p>
        </p:txBody>
      </p:sp>
      <p:sp>
        <p:nvSpPr>
          <p:cNvPr id="11" name="Text 9"/>
          <p:cNvSpPr/>
          <p:nvPr/>
        </p:nvSpPr>
        <p:spPr>
          <a:xfrm>
            <a:off x="1645920" y="4389120"/>
            <a:ext cx="3657600" cy="914400"/>
          </a:xfrm>
          <a:prstGeom prst="rect">
            <a:avLst/>
          </a:prstGeom>
          <a:noFill/>
          <a:ln/>
        </p:spPr>
        <p:txBody>
          <a:bodyPr wrap="square" lIns="0" tIns="0" rIns="0" bIns="0" rtlCol="0" anchor="ctr"/>
          <a:lstStyle/>
          <a:p>
            <a:pPr marL="0" indent="0">
              <a:buNone/>
            </a:pPr>
            <a:endParaRPr lang="en-US" sz="1100" dirty="0"/>
          </a:p>
        </p:txBody>
      </p:sp>
      <p:sp>
        <p:nvSpPr>
          <p:cNvPr id="20" name="Text 18"/>
          <p:cNvSpPr/>
          <p:nvPr/>
        </p:nvSpPr>
        <p:spPr>
          <a:xfrm>
            <a:off x="365760" y="4846320"/>
            <a:ext cx="8412480" cy="228600"/>
          </a:xfrm>
          <a:prstGeom prst="rect">
            <a:avLst/>
          </a:prstGeom>
          <a:noFill/>
          <a:ln/>
        </p:spPr>
        <p:txBody>
          <a:bodyPr wrap="square" lIns="0" tIns="0" rIns="0" bIns="0" rtlCol="0" anchor="ctr"/>
          <a:lstStyle/>
          <a:p>
            <a:pPr marL="0" indent="0">
              <a:buNone/>
            </a:pPr>
            <a:r>
              <a:rPr lang="en-US" sz="800" i="1" dirty="0">
                <a:solidFill>
                  <a:srgbClr val="4A6A80"/>
                </a:solidFill>
                <a:latin typeface="Calibri" pitchFamily="34" charset="0"/>
                <a:ea typeface="Calibri" pitchFamily="34" charset="-122"/>
                <a:cs typeface="Calibri" pitchFamily="34" charset="-120"/>
              </a:rPr>
              <a:t>Fuente: NASA GISS — Northern Hemisphere Temperature Anomalies  |  Análisis: Jessica Gil &amp; Esteban Mora</a:t>
            </a:r>
            <a:endParaRPr lang="en-US" sz="800" dirty="0"/>
          </a:p>
        </p:txBody>
      </p:sp>
      <p:sp>
        <p:nvSpPr>
          <p:cNvPr id="21" name="Shape 6">
            <a:extLst>
              <a:ext uri="{FF2B5EF4-FFF2-40B4-BE49-F238E27FC236}">
                <a16:creationId xmlns:a16="http://schemas.microsoft.com/office/drawing/2014/main" id="{95078240-11DF-9BF6-F62C-057220A7DD23}"/>
              </a:ext>
            </a:extLst>
          </p:cNvPr>
          <p:cNvSpPr/>
          <p:nvPr/>
        </p:nvSpPr>
        <p:spPr>
          <a:xfrm>
            <a:off x="4945380" y="891540"/>
            <a:ext cx="3497580" cy="1516380"/>
          </a:xfrm>
          <a:prstGeom prst="rect">
            <a:avLst/>
          </a:prstGeom>
          <a:solidFill>
            <a:srgbClr val="0A2A3A"/>
          </a:solidFill>
          <a:ln w="12700">
            <a:solidFill>
              <a:srgbClr val="5EEAD4"/>
            </a:solidFill>
            <a:prstDash val="solid"/>
          </a:ln>
          <a:effectLst>
            <a:outerShdw blurRad="101600" dist="38100" dir="8100000" algn="bl" rotWithShape="0">
              <a:srgbClr val="000000">
                <a:alpha val="18000"/>
              </a:srgbClr>
            </a:outerShdw>
          </a:effectLst>
        </p:spPr>
        <p:txBody>
          <a:bodyPr/>
          <a:lstStyle/>
          <a:p>
            <a:r>
              <a:rPr lang="es-ES" sz="1200" dirty="0">
                <a:solidFill>
                  <a:srgbClr val="B0C4D8"/>
                </a:solidFill>
                <a:latin typeface="Calibri" pitchFamily="34" charset="0"/>
                <a:ea typeface="Calibri" pitchFamily="34" charset="-122"/>
                <a:cs typeface="Calibri" pitchFamily="34" charset="-120"/>
              </a:rPr>
              <a:t>02 — El pico de la distribución se desplazó cuatro intervalos. En 1951–1980 el intervalo más frecuente era 0.0 a 0.2°C (11 años, 50%). En 1981–2010 el más frecuente es 0.6 a 0.8°C (8 años, 23,3%). El centro de masa de la distribución se movió casi un grado completo hacia la derecha.</a:t>
            </a:r>
            <a:endParaRPr lang="es-CO" sz="1200" dirty="0"/>
          </a:p>
        </p:txBody>
      </p:sp>
      <p:sp>
        <p:nvSpPr>
          <p:cNvPr id="22" name="Shape 6">
            <a:extLst>
              <a:ext uri="{FF2B5EF4-FFF2-40B4-BE49-F238E27FC236}">
                <a16:creationId xmlns:a16="http://schemas.microsoft.com/office/drawing/2014/main" id="{16AA038A-9A87-CD21-8750-C85D979FCAB8}"/>
              </a:ext>
            </a:extLst>
          </p:cNvPr>
          <p:cNvSpPr/>
          <p:nvPr/>
        </p:nvSpPr>
        <p:spPr>
          <a:xfrm>
            <a:off x="2308860" y="2788920"/>
            <a:ext cx="4526280" cy="914400"/>
          </a:xfrm>
          <a:prstGeom prst="rect">
            <a:avLst/>
          </a:prstGeom>
          <a:solidFill>
            <a:srgbClr val="0A2A3A"/>
          </a:solidFill>
          <a:ln w="12700">
            <a:solidFill>
              <a:srgbClr val="5EEAD4"/>
            </a:solidFill>
            <a:prstDash val="solid"/>
          </a:ln>
          <a:effectLst>
            <a:outerShdw blurRad="101600" dist="38100" dir="8100000" algn="bl" rotWithShape="0">
              <a:srgbClr val="000000">
                <a:alpha val="18000"/>
              </a:srgbClr>
            </a:outerShdw>
          </a:effectLst>
        </p:spPr>
        <p:txBody>
          <a:bodyPr/>
          <a:lstStyle/>
          <a:p>
            <a:r>
              <a:rPr lang="es-ES" sz="1200" dirty="0">
                <a:solidFill>
                  <a:srgbClr val="B0C4D8"/>
                </a:solidFill>
                <a:latin typeface="Calibri" pitchFamily="34" charset="0"/>
                <a:ea typeface="Calibri" pitchFamily="34" charset="-122"/>
                <a:cs typeface="Calibri" pitchFamily="34" charset="-120"/>
              </a:rPr>
              <a:t>03 — La distribución reciente es más dispersa. El histograma de 1951–1980 muestra una forma más concentrada y simétrica. El de 1981–2010 es más plano y extendido, cubriendo un rango de 0.0°C a más de  0,9°C, lo que indica mayor variabilidad entre años.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541</Words>
  <Application>Microsoft Office PowerPoint</Application>
  <PresentationFormat>Presentación en pantalla (16:9)</PresentationFormat>
  <Paragraphs>51</Paragraphs>
  <Slides>5</Slides>
  <Notes>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5</vt:i4>
      </vt:variant>
    </vt:vector>
  </HeadingPairs>
  <TitlesOfParts>
    <vt:vector size="8"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Variación de la Temperatura en el Tiempo</dc:title>
  <dc:subject>PptxGenJS Presentation</dc:subject>
  <dc:creator>PptxGenJS</dc:creator>
  <cp:lastModifiedBy>Jessica Alejandra Gil Tellez</cp:lastModifiedBy>
  <cp:revision>2</cp:revision>
  <dcterms:created xsi:type="dcterms:W3CDTF">2026-03-09T18:21:15Z</dcterms:created>
  <dcterms:modified xsi:type="dcterms:W3CDTF">2026-03-09T19:12:55Z</dcterms:modified>
</cp:coreProperties>
</file>